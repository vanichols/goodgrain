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4"/>
    <p:sldId id="258" r:id="rId5"/>
    <p:sldId id="259" r:id="rId6"/>
    <p:sldId id="260" r:id="rId7"/>
    <p:sldId id="261" r:id="rId8"/>
    <p:sldId id="285" r:id="rId9"/>
    <p:sldId id="286" r:id="rId10"/>
    <p:sldId id="277" r:id="rId11"/>
    <p:sldId id="264" r:id="rId12"/>
    <p:sldId id="265" r:id="rId13"/>
    <p:sldId id="266" r:id="rId14"/>
    <p:sldId id="267" r:id="rId15"/>
    <p:sldId id="268" r:id="rId16"/>
    <p:sldId id="275" r:id="rId17"/>
    <p:sldId id="278" r:id="rId18"/>
    <p:sldId id="279" r:id="rId19"/>
    <p:sldId id="281" r:id="rId20"/>
    <p:sldId id="280" r:id="rId21"/>
    <p:sldId id="269" r:id="rId22"/>
    <p:sldId id="270" r:id="rId23"/>
    <p:sldId id="283" r:id="rId24"/>
    <p:sldId id="282" r:id="rId25"/>
    <p:sldId id="273" r:id="rId26"/>
    <p:sldId id="271" r:id="rId27"/>
    <p:sldId id="272" r:id="rId28"/>
    <p:sldId id="274" r:id="rId29"/>
    <p:sldId id="284" r:id="rId30"/>
    <p:sldId id="26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65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83947" y="718458"/>
            <a:ext cx="7393627" cy="1046440"/>
          </a:xfrm>
          <a:prstGeom prst="rect">
            <a:avLst/>
          </a:prstGeom>
          <a:noFill/>
        </p:spPr>
        <p:txBody>
          <a:bodyPr wrap="none">
            <a:spAutoFit/>
          </a:bodyPr>
          <a:lstStyle/>
          <a:p>
            <a:pPr algn="ctr">
              <a:defRPr sz="3800" b="1"/>
            </a:pPr>
            <a:r>
              <a:rPr dirty="0"/>
              <a:t>GoodGrain Home Baking Evaluation</a:t>
            </a:r>
          </a:p>
          <a:p>
            <a:pPr algn="ctr">
              <a:defRPr sz="2400"/>
            </a:pPr>
            <a:r>
              <a:rPr dirty="0"/>
              <a:t>Informational </a:t>
            </a:r>
            <a:r>
              <a:rPr lang="en-US" dirty="0"/>
              <a:t>video</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descr="figure-1.png">
            <a:extLst>
              <a:ext uri="{FF2B5EF4-FFF2-40B4-BE49-F238E27FC236}">
                <a16:creationId xmlns:a16="http://schemas.microsoft.com/office/drawing/2014/main" id="{B813232E-3694-5842-2C17-AA9CFC711A54}"/>
              </a:ext>
            </a:extLst>
          </p:cNvPr>
          <p:cNvPicPr>
            <a:picLocks noChangeAspect="1"/>
          </p:cNvPicPr>
          <p:nvPr/>
        </p:nvPicPr>
        <p:blipFill>
          <a:blip r:embed="rId2"/>
          <a:srcRect l="74690" t="53023" r="5903" b="22742"/>
          <a:stretch>
            <a:fillRect/>
          </a:stretch>
        </p:blipFill>
        <p:spPr>
          <a:xfrm>
            <a:off x="4114796" y="2215471"/>
            <a:ext cx="4125686" cy="41169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1234440"/>
            <a:ext cx="10477254" cy="2800767"/>
          </a:xfrm>
          <a:prstGeom prst="rect">
            <a:avLst/>
          </a:prstGeom>
          <a:noFill/>
        </p:spPr>
        <p:txBody>
          <a:bodyPr wrap="square">
            <a:spAutoFit/>
          </a:bodyPr>
          <a:lstStyle/>
          <a:p>
            <a:pPr marL="342900" indent="-342900">
              <a:spcAft>
                <a:spcPts val="1200"/>
              </a:spcAft>
              <a:buFont typeface="Arial" panose="020B0604020202020204" pitchFamily="34" charset="0"/>
              <a:buChar char="•"/>
              <a:defRPr sz="2100"/>
            </a:pPr>
            <a:r>
              <a:rPr lang="en-US" dirty="0"/>
              <a:t>An overview of the GoodGrain project</a:t>
            </a:r>
          </a:p>
          <a:p>
            <a:pPr marL="342900" indent="-342900">
              <a:spcAft>
                <a:spcPts val="1200"/>
              </a:spcAft>
              <a:buFont typeface="Arial" panose="020B0604020202020204" pitchFamily="34" charset="0"/>
              <a:buChar char="•"/>
              <a:defRPr sz="2100"/>
            </a:pPr>
            <a:r>
              <a:rPr lang="en-US" dirty="0"/>
              <a:t>What is expected of you as a citizen scientist in the Home Baking Evaluation</a:t>
            </a:r>
          </a:p>
          <a:p>
            <a:pPr marL="342900" indent="-342900">
              <a:spcAft>
                <a:spcPts val="1200"/>
              </a:spcAft>
              <a:buFont typeface="Arial" panose="020B0604020202020204" pitchFamily="34" charset="0"/>
              <a:buChar char="•"/>
              <a:defRPr sz="2100"/>
            </a:pPr>
            <a:r>
              <a:rPr lang="en-US" dirty="0"/>
              <a:t>M</a:t>
            </a:r>
            <a:r>
              <a:rPr dirty="0"/>
              <a:t>ore in-depth information about the new </a:t>
            </a:r>
            <a:r>
              <a:rPr lang="en-US" dirty="0"/>
              <a:t>perennial rye </a:t>
            </a:r>
            <a:r>
              <a:rPr dirty="0"/>
              <a:t>variety</a:t>
            </a:r>
            <a:endParaRPr lang="en-US" dirty="0"/>
          </a:p>
          <a:p>
            <a:pPr marL="342900" indent="-342900">
              <a:spcAft>
                <a:spcPts val="1200"/>
              </a:spcAft>
              <a:buFont typeface="Arial" panose="020B0604020202020204" pitchFamily="34" charset="0"/>
              <a:buChar char="•"/>
              <a:defRPr sz="2100"/>
            </a:pPr>
            <a:endParaRPr lang="da-DK" dirty="0"/>
          </a:p>
          <a:p>
            <a:pPr>
              <a:spcAft>
                <a:spcPts val="1200"/>
              </a:spcAft>
              <a:defRPr sz="2100"/>
            </a:pPr>
            <a:r>
              <a:rPr lang="da-DK" dirty="0"/>
              <a:t>The same information is </a:t>
            </a:r>
            <a:r>
              <a:rPr lang="da-DK" dirty="0" err="1"/>
              <a:t>also</a:t>
            </a:r>
            <a:r>
              <a:rPr lang="da-DK" dirty="0"/>
              <a:t> </a:t>
            </a:r>
            <a:r>
              <a:rPr lang="da-DK" dirty="0" err="1"/>
              <a:t>available</a:t>
            </a:r>
            <a:r>
              <a:rPr lang="da-DK" dirty="0"/>
              <a:t> in an </a:t>
            </a:r>
            <a:r>
              <a:rPr lang="da-DK" dirty="0" err="1"/>
              <a:t>informational</a:t>
            </a:r>
            <a:r>
              <a:rPr lang="da-DK" dirty="0"/>
              <a:t> </a:t>
            </a:r>
            <a:r>
              <a:rPr lang="da-DK" dirty="0" err="1"/>
              <a:t>sheet</a:t>
            </a:r>
            <a:r>
              <a:rPr lang="da-DK" dirty="0"/>
              <a:t> in English and Danish</a:t>
            </a:r>
            <a:endParaRPr lang="en-US" dirty="0"/>
          </a:p>
          <a:p>
            <a:pPr marL="342900" indent="-342900">
              <a:spcAft>
                <a:spcPts val="1200"/>
              </a:spcAft>
              <a:buFont typeface="Arial" panose="020B0604020202020204" pitchFamily="34" charset="0"/>
              <a:buChar char="•"/>
              <a:defRPr sz="2100"/>
            </a:pP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
        <p:nvSpPr>
          <p:cNvPr id="6" name="TextBox 5">
            <a:extLst>
              <a:ext uri="{FF2B5EF4-FFF2-40B4-BE49-F238E27FC236}">
                <a16:creationId xmlns:a16="http://schemas.microsoft.com/office/drawing/2014/main" id="{CED5667C-D6EB-1BA4-AC70-DBF08B24E721}"/>
              </a:ext>
            </a:extLst>
          </p:cNvPr>
          <p:cNvSpPr txBox="1"/>
          <p:nvPr/>
        </p:nvSpPr>
        <p:spPr>
          <a:xfrm>
            <a:off x="594360" y="320040"/>
            <a:ext cx="4525341" cy="553998"/>
          </a:xfrm>
          <a:prstGeom prst="rect">
            <a:avLst/>
          </a:prstGeom>
          <a:noFill/>
        </p:spPr>
        <p:txBody>
          <a:bodyPr wrap="none">
            <a:spAutoFit/>
          </a:bodyPr>
          <a:lstStyle/>
          <a:p>
            <a:pPr>
              <a:defRPr sz="3000" b="1"/>
            </a:pPr>
            <a:r>
              <a:rPr lang="en-US" dirty="0"/>
              <a:t>This presentation provides: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260C6-AF0F-88C5-B0BC-68F1C41297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0AB211-EFC4-7B87-FF7D-36BFEADB85A0}"/>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descr="figure-1.png">
            <a:extLst>
              <a:ext uri="{FF2B5EF4-FFF2-40B4-BE49-F238E27FC236}">
                <a16:creationId xmlns:a16="http://schemas.microsoft.com/office/drawing/2014/main" id="{8831E572-24E7-851B-E503-91E60AE91FBA}"/>
              </a:ext>
            </a:extLst>
          </p:cNvPr>
          <p:cNvPicPr>
            <a:picLocks noChangeAspect="1"/>
          </p:cNvPicPr>
          <p:nvPr/>
        </p:nvPicPr>
        <p:blipFill>
          <a:blip r:embed="rId2"/>
          <a:stretch>
            <a:fillRect/>
          </a:stretch>
        </p:blipFill>
        <p:spPr>
          <a:xfrm>
            <a:off x="2407963" y="482075"/>
            <a:ext cx="7376074" cy="5893849"/>
          </a:xfrm>
          <a:prstGeom prst="rect">
            <a:avLst/>
          </a:prstGeom>
        </p:spPr>
      </p:pic>
    </p:spTree>
    <p:extLst>
      <p:ext uri="{BB962C8B-B14F-4D97-AF65-F5344CB8AC3E}">
        <p14:creationId xmlns:p14="http://schemas.microsoft.com/office/powerpoint/2010/main" val="7739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rPr dirty="0"/>
              <a:t>What happens next?</a:t>
            </a:r>
          </a:p>
        </p:txBody>
      </p:sp>
      <p:sp>
        <p:nvSpPr>
          <p:cNvPr id="3" name="TextBox 2"/>
          <p:cNvSpPr txBox="1"/>
          <p:nvPr/>
        </p:nvSpPr>
        <p:spPr>
          <a:xfrm>
            <a:off x="731520" y="1234440"/>
            <a:ext cx="10789920" cy="892552"/>
          </a:xfrm>
          <a:prstGeom prst="rect">
            <a:avLst/>
          </a:prstGeom>
          <a:noFill/>
        </p:spPr>
        <p:txBody>
          <a:bodyPr wrap="square">
            <a:spAutoFit/>
          </a:bodyPr>
          <a:lstStyle/>
          <a:p>
            <a:pPr>
              <a:spcAft>
                <a:spcPts val="1200"/>
              </a:spcAft>
              <a:defRPr sz="2100"/>
            </a:pPr>
            <a:r>
              <a:rPr b="1" dirty="0"/>
              <a:t>Watch th</a:t>
            </a:r>
            <a:r>
              <a:rPr lang="en-US" b="1" dirty="0"/>
              <a:t>is</a:t>
            </a:r>
            <a:r>
              <a:rPr b="1" dirty="0"/>
              <a:t> Informational Video (in English)</a:t>
            </a:r>
            <a:r>
              <a:rPr dirty="0"/>
              <a:t> or read the Informational Sheet in English or Danish.</a:t>
            </a:r>
          </a:p>
          <a:p>
            <a:pPr>
              <a:spcAft>
                <a:spcPts val="1200"/>
              </a:spcAft>
              <a:defRPr sz="2100"/>
            </a:pPr>
            <a:r>
              <a:rPr lang="en-US" dirty="0"/>
              <a:t>Afterwards, i</a:t>
            </a:r>
            <a:r>
              <a:rPr dirty="0"/>
              <a:t>f you </a:t>
            </a:r>
            <a:r>
              <a:rPr b="1" dirty="0"/>
              <a:t>decide you would like to participate in the research</a:t>
            </a:r>
            <a:r>
              <a:rPr dirty="0"/>
              <a:t>, complete the intake form.</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910412" cy="553998"/>
          </a:xfrm>
          <a:prstGeom prst="rect">
            <a:avLst/>
          </a:prstGeom>
          <a:noFill/>
        </p:spPr>
        <p:txBody>
          <a:bodyPr wrap="none">
            <a:spAutoFit/>
          </a:bodyPr>
          <a:lstStyle/>
          <a:p>
            <a:pPr>
              <a:defRPr sz="3000" b="1"/>
            </a:pPr>
            <a:r>
              <a:rPr lang="en-US" dirty="0"/>
              <a:t>Why GoodGrain?</a:t>
            </a:r>
            <a:endParaRPr dirty="0"/>
          </a:p>
        </p:txBody>
      </p:sp>
      <p:sp>
        <p:nvSpPr>
          <p:cNvPr id="3" name="TextBox 2"/>
          <p:cNvSpPr txBox="1"/>
          <p:nvPr/>
        </p:nvSpPr>
        <p:spPr>
          <a:xfrm>
            <a:off x="731520" y="1234440"/>
            <a:ext cx="10789920" cy="4370427"/>
          </a:xfrm>
          <a:prstGeom prst="rect">
            <a:avLst/>
          </a:prstGeom>
          <a:noFill/>
        </p:spPr>
        <p:txBody>
          <a:bodyPr wrap="square">
            <a:spAutoFit/>
          </a:bodyPr>
          <a:lstStyle/>
          <a:p>
            <a:pPr>
              <a:spcAft>
                <a:spcPts val="1200"/>
              </a:spcAft>
              <a:defRPr sz="1900"/>
            </a:pPr>
            <a:r>
              <a:rPr dirty="0"/>
              <a:t>Common bread crops such as wheat, oats, rye and barley are </a:t>
            </a:r>
            <a:r>
              <a:rPr b="1" dirty="0"/>
              <a:t>annual</a:t>
            </a:r>
            <a:r>
              <a:rPr lang="en-US" b="1" dirty="0"/>
              <a:t> grains</a:t>
            </a:r>
            <a:r>
              <a:rPr dirty="0"/>
              <a:t>: they are sown, produce one grain harvest, and must then be sown again.</a:t>
            </a:r>
            <a:endParaRPr lang="en-US" dirty="0"/>
          </a:p>
          <a:p>
            <a:pPr>
              <a:spcAft>
                <a:spcPts val="1200"/>
              </a:spcAft>
              <a:defRPr sz="1900"/>
            </a:pPr>
            <a:r>
              <a:rPr lang="da-DK" dirty="0"/>
              <a:t>An alternative </a:t>
            </a:r>
            <a:r>
              <a:rPr lang="da-DK" dirty="0" err="1"/>
              <a:t>would</a:t>
            </a:r>
            <a:r>
              <a:rPr lang="da-DK" dirty="0"/>
              <a:t> </a:t>
            </a:r>
            <a:r>
              <a:rPr lang="da-DK" dirty="0" err="1"/>
              <a:t>be</a:t>
            </a:r>
            <a:r>
              <a:rPr lang="da-DK" dirty="0"/>
              <a:t> a </a:t>
            </a:r>
            <a:r>
              <a:rPr lang="da-DK" b="1" dirty="0" err="1"/>
              <a:t>perennial</a:t>
            </a:r>
            <a:r>
              <a:rPr lang="da-DK" b="1" dirty="0"/>
              <a:t> </a:t>
            </a:r>
            <a:r>
              <a:rPr lang="da-DK" b="1" dirty="0" err="1"/>
              <a:t>grain</a:t>
            </a:r>
            <a:r>
              <a:rPr lang="da-DK" dirty="0"/>
              <a:t>, </a:t>
            </a:r>
            <a:r>
              <a:rPr lang="da-DK" dirty="0" err="1"/>
              <a:t>which</a:t>
            </a:r>
            <a:r>
              <a:rPr lang="da-DK" dirty="0"/>
              <a:t> </a:t>
            </a:r>
            <a:r>
              <a:rPr lang="da-DK" dirty="0" err="1"/>
              <a:t>would</a:t>
            </a:r>
            <a:r>
              <a:rPr lang="da-DK" dirty="0"/>
              <a:t> </a:t>
            </a:r>
            <a:r>
              <a:rPr lang="da-DK" dirty="0" err="1"/>
              <a:t>continue</a:t>
            </a:r>
            <a:r>
              <a:rPr lang="da-DK" dirty="0"/>
              <a:t> to live </a:t>
            </a:r>
            <a:r>
              <a:rPr lang="da-DK" dirty="0" err="1"/>
              <a:t>after</a:t>
            </a:r>
            <a:r>
              <a:rPr lang="da-DK" dirty="0"/>
              <a:t> it is harvested.</a:t>
            </a:r>
            <a:endParaRPr dirty="0"/>
          </a:p>
          <a:p>
            <a:pPr>
              <a:spcAft>
                <a:spcPts val="1200"/>
              </a:spcAft>
              <a:defRPr sz="1900"/>
            </a:pPr>
            <a:r>
              <a:rPr dirty="0"/>
              <a:t>A </a:t>
            </a:r>
            <a:r>
              <a:rPr lang="en-US" dirty="0"/>
              <a:t>perennial grain</a:t>
            </a:r>
            <a:r>
              <a:rPr dirty="0"/>
              <a:t> producing </a:t>
            </a:r>
            <a:r>
              <a:rPr b="1" dirty="0"/>
              <a:t>two or three grain harvests from one sowing</a:t>
            </a:r>
            <a:r>
              <a:rPr dirty="0"/>
              <a:t> could save farmers work and tractor driving.</a:t>
            </a:r>
          </a:p>
          <a:p>
            <a:pPr>
              <a:spcAft>
                <a:spcPts val="1200"/>
              </a:spcAft>
              <a:defRPr sz="1900"/>
            </a:pPr>
            <a:r>
              <a:rPr lang="en-US" dirty="0"/>
              <a:t>By remaining in the field for several years, a perennial grain could develop more roots, which could in turn be beneficial for the environment. </a:t>
            </a:r>
            <a:r>
              <a:rPr lang="en-US" b="1" dirty="0"/>
              <a:t>More roots</a:t>
            </a:r>
            <a:r>
              <a:rPr lang="en-US" dirty="0"/>
              <a:t> could sequester more carbon, they could feed the soil biology for more of the year, and they could help the crop use nutrients more efficiently, or be more resilient to drought</a:t>
            </a:r>
            <a:r>
              <a:rPr dirty="0"/>
              <a:t>.</a:t>
            </a:r>
            <a:endParaRPr lang="en-US" dirty="0"/>
          </a:p>
          <a:p>
            <a:pPr>
              <a:spcAft>
                <a:spcPts val="1200"/>
              </a:spcAft>
              <a:defRPr sz="1900"/>
            </a:pPr>
            <a:r>
              <a:rPr lang="da-DK" dirty="0" err="1"/>
              <a:t>There</a:t>
            </a:r>
            <a:r>
              <a:rPr lang="da-DK" dirty="0"/>
              <a:t> is </a:t>
            </a:r>
            <a:r>
              <a:rPr lang="da-DK" b="1" dirty="0"/>
              <a:t>more information</a:t>
            </a:r>
            <a:r>
              <a:rPr lang="da-DK" dirty="0"/>
              <a:t> </a:t>
            </a:r>
            <a:r>
              <a:rPr lang="da-DK" dirty="0" err="1"/>
              <a:t>about</a:t>
            </a:r>
            <a:r>
              <a:rPr lang="da-DK" dirty="0"/>
              <a:t> </a:t>
            </a:r>
            <a:r>
              <a:rPr lang="da-DK" dirty="0" err="1"/>
              <a:t>this</a:t>
            </a:r>
            <a:r>
              <a:rPr lang="da-DK" dirty="0"/>
              <a:t> </a:t>
            </a:r>
            <a:r>
              <a:rPr lang="da-DK" dirty="0" err="1"/>
              <a:t>later</a:t>
            </a:r>
            <a:r>
              <a:rPr lang="da-DK" dirty="0"/>
              <a:t> in the video. </a:t>
            </a:r>
            <a:endParaRPr dirty="0"/>
          </a:p>
          <a:p>
            <a:pPr>
              <a:spcAft>
                <a:spcPts val="1200"/>
              </a:spcAft>
              <a:defRPr sz="1900"/>
            </a:pPr>
            <a:r>
              <a:rPr dirty="0"/>
              <a:t>A few perennial grain varieties have recently been developed, including a </a:t>
            </a:r>
            <a:r>
              <a:rPr b="1" dirty="0"/>
              <a:t>perennial rye </a:t>
            </a:r>
            <a:r>
              <a:rPr dirty="0"/>
              <a:t>that is being tested in Denmark.</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Why GoodGrain?</a:t>
            </a:r>
          </a:p>
        </p:txBody>
      </p:sp>
      <p:sp>
        <p:nvSpPr>
          <p:cNvPr id="3" name="TextBox 2"/>
          <p:cNvSpPr txBox="1"/>
          <p:nvPr/>
        </p:nvSpPr>
        <p:spPr>
          <a:xfrm>
            <a:off x="731520" y="1234440"/>
            <a:ext cx="10789920" cy="2708434"/>
          </a:xfrm>
          <a:prstGeom prst="rect">
            <a:avLst/>
          </a:prstGeom>
          <a:noFill/>
        </p:spPr>
        <p:txBody>
          <a:bodyPr wrap="square">
            <a:spAutoFit/>
          </a:bodyPr>
          <a:lstStyle/>
          <a:p>
            <a:pPr>
              <a:spcAft>
                <a:spcPts val="1200"/>
              </a:spcAft>
              <a:defRPr sz="2000"/>
            </a:pPr>
            <a:r>
              <a:rPr dirty="0"/>
              <a:t>Field testing is </a:t>
            </a:r>
            <a:r>
              <a:rPr lang="en-US" dirty="0"/>
              <a:t>currently </a:t>
            </a:r>
            <a:r>
              <a:rPr dirty="0"/>
              <a:t>evaluating </a:t>
            </a:r>
            <a:r>
              <a:rPr b="1" dirty="0"/>
              <a:t>how the new perennial rye grows in Denmark</a:t>
            </a:r>
            <a:r>
              <a:rPr dirty="0"/>
              <a:t> and how it affects the environment compared with annual rye.</a:t>
            </a:r>
          </a:p>
          <a:p>
            <a:pPr>
              <a:spcAft>
                <a:spcPts val="1200"/>
              </a:spcAft>
              <a:defRPr sz="2000"/>
            </a:pPr>
            <a:r>
              <a:rPr dirty="0"/>
              <a:t>GoodGrain builds on this </a:t>
            </a:r>
            <a:r>
              <a:rPr lang="en-US" dirty="0"/>
              <a:t>field testing </a:t>
            </a:r>
            <a:r>
              <a:rPr dirty="0"/>
              <a:t>by looking specifically at the new </a:t>
            </a:r>
            <a:r>
              <a:rPr b="1" dirty="0"/>
              <a:t>perennial rye's grain characteristics</a:t>
            </a:r>
            <a:r>
              <a:rPr dirty="0"/>
              <a:t>.</a:t>
            </a:r>
          </a:p>
          <a:p>
            <a:pPr>
              <a:spcAft>
                <a:spcPts val="1200"/>
              </a:spcAft>
              <a:defRPr sz="2000"/>
            </a:pPr>
            <a:r>
              <a:rPr dirty="0"/>
              <a:t>One important characteristic is </a:t>
            </a:r>
            <a:r>
              <a:rPr b="1" dirty="0"/>
              <a:t>baking quality</a:t>
            </a:r>
            <a:r>
              <a:rPr dirty="0"/>
              <a:t>.</a:t>
            </a:r>
            <a:endParaRPr lang="en-US" dirty="0"/>
          </a:p>
          <a:p>
            <a:pPr>
              <a:spcAft>
                <a:spcPts val="1200"/>
              </a:spcAft>
              <a:defRPr sz="2000"/>
            </a:pPr>
            <a:r>
              <a:rPr lang="da-DK" dirty="0" err="1"/>
              <a:t>Other</a:t>
            </a:r>
            <a:r>
              <a:rPr lang="da-DK" dirty="0"/>
              <a:t> </a:t>
            </a:r>
            <a:r>
              <a:rPr lang="da-DK" dirty="0" err="1"/>
              <a:t>aspects</a:t>
            </a:r>
            <a:r>
              <a:rPr lang="da-DK" dirty="0"/>
              <a:t> </a:t>
            </a:r>
            <a:r>
              <a:rPr lang="da-DK" dirty="0" err="1"/>
              <a:t>being</a:t>
            </a:r>
            <a:r>
              <a:rPr lang="da-DK" dirty="0"/>
              <a:t> </a:t>
            </a:r>
            <a:r>
              <a:rPr lang="da-DK" dirty="0" err="1"/>
              <a:t>studied</a:t>
            </a:r>
            <a:r>
              <a:rPr lang="da-DK" dirty="0"/>
              <a:t> in GoodGrain </a:t>
            </a:r>
            <a:r>
              <a:rPr lang="da-DK" dirty="0" err="1"/>
              <a:t>include</a:t>
            </a:r>
            <a:r>
              <a:rPr lang="da-DK" dirty="0"/>
              <a:t> the </a:t>
            </a:r>
            <a:r>
              <a:rPr lang="da-DK" b="1" dirty="0" err="1"/>
              <a:t>nutritional</a:t>
            </a:r>
            <a:r>
              <a:rPr lang="da-DK" b="1" dirty="0"/>
              <a:t> </a:t>
            </a:r>
            <a:r>
              <a:rPr lang="da-DK" b="1" dirty="0" err="1"/>
              <a:t>quality</a:t>
            </a:r>
            <a:r>
              <a:rPr lang="da-DK" dirty="0"/>
              <a:t> of the </a:t>
            </a:r>
            <a:r>
              <a:rPr lang="da-DK" dirty="0" err="1"/>
              <a:t>grain</a:t>
            </a:r>
            <a:r>
              <a:rPr lang="da-DK" dirty="0"/>
              <a:t>, and the </a:t>
            </a:r>
            <a:r>
              <a:rPr lang="da-DK" dirty="0" err="1"/>
              <a:t>prevalence</a:t>
            </a:r>
            <a:r>
              <a:rPr lang="da-DK" dirty="0"/>
              <a:t> of a common </a:t>
            </a:r>
            <a:r>
              <a:rPr lang="da-DK" dirty="0" err="1"/>
              <a:t>fungus</a:t>
            </a:r>
            <a:r>
              <a:rPr lang="da-DK" dirty="0"/>
              <a:t>, </a:t>
            </a:r>
            <a:r>
              <a:rPr lang="da-DK" b="1" dirty="0" err="1"/>
              <a:t>ergot</a:t>
            </a:r>
            <a:r>
              <a:rPr lang="da-DK" dirty="0"/>
              <a:t>, </a:t>
            </a:r>
            <a:r>
              <a:rPr lang="da-DK" dirty="0" err="1"/>
              <a:t>which</a:t>
            </a:r>
            <a:r>
              <a:rPr lang="da-DK" dirty="0"/>
              <a:t> </a:t>
            </a:r>
            <a:r>
              <a:rPr lang="da-DK" dirty="0" err="1"/>
              <a:t>can</a:t>
            </a:r>
            <a:r>
              <a:rPr lang="da-DK" dirty="0"/>
              <a:t> </a:t>
            </a:r>
            <a:r>
              <a:rPr lang="da-DK" dirty="0" err="1"/>
              <a:t>be</a:t>
            </a:r>
            <a:r>
              <a:rPr lang="da-DK" dirty="0"/>
              <a:t> </a:t>
            </a:r>
            <a:r>
              <a:rPr lang="da-DK" dirty="0" err="1"/>
              <a:t>found</a:t>
            </a:r>
            <a:r>
              <a:rPr lang="da-DK" dirty="0"/>
              <a:t> in harvested </a:t>
            </a:r>
            <a:r>
              <a:rPr lang="da-DK" dirty="0" err="1"/>
              <a:t>grain</a:t>
            </a:r>
            <a:r>
              <a:rPr lang="da-DK" dirty="0"/>
              <a:t>. </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4493538" cy="553998"/>
          </a:xfrm>
          <a:prstGeom prst="rect">
            <a:avLst/>
          </a:prstGeom>
          <a:noFill/>
        </p:spPr>
        <p:txBody>
          <a:bodyPr wrap="none">
            <a:spAutoFit/>
          </a:bodyPr>
          <a:lstStyle/>
          <a:p>
            <a:pPr>
              <a:defRPr sz="3000" b="1"/>
            </a:pPr>
            <a:r>
              <a:rPr lang="en-US" dirty="0"/>
              <a:t>Why a home baking study</a:t>
            </a:r>
            <a:r>
              <a:rPr dirty="0"/>
              <a:t>?</a:t>
            </a:r>
          </a:p>
        </p:txBody>
      </p:sp>
      <p:sp>
        <p:nvSpPr>
          <p:cNvPr id="3" name="TextBox 2"/>
          <p:cNvSpPr txBox="1"/>
          <p:nvPr/>
        </p:nvSpPr>
        <p:spPr>
          <a:xfrm>
            <a:off x="731520" y="1234440"/>
            <a:ext cx="10789920" cy="2877711"/>
          </a:xfrm>
          <a:prstGeom prst="rect">
            <a:avLst/>
          </a:prstGeom>
          <a:noFill/>
        </p:spPr>
        <p:txBody>
          <a:bodyPr wrap="square">
            <a:spAutoFit/>
          </a:bodyPr>
          <a:lstStyle/>
          <a:p>
            <a:r>
              <a:rPr lang="en-US" sz="1900" dirty="0"/>
              <a:t>The main goals of this home baking study are to:</a:t>
            </a:r>
          </a:p>
          <a:p>
            <a:endParaRPr lang="en-US" sz="1900" dirty="0"/>
          </a:p>
          <a:p>
            <a:pPr marL="342900" lvl="0" indent="-342900">
              <a:buFont typeface="+mj-lt"/>
              <a:buAutoNum type="arabicPeriod"/>
            </a:pPr>
            <a:r>
              <a:rPr lang="en-US" sz="1900" dirty="0"/>
              <a:t>Start to understand the best uses for this perennial rye for home bakers</a:t>
            </a:r>
          </a:p>
          <a:p>
            <a:pPr marL="342900" lvl="0" indent="-342900">
              <a:buFont typeface="+mj-lt"/>
              <a:buAutoNum type="arabicPeriod"/>
            </a:pPr>
            <a:endParaRPr lang="en-US" sz="1900" dirty="0"/>
          </a:p>
          <a:p>
            <a:pPr marL="342900" lvl="0" indent="-342900">
              <a:buFont typeface="+mj-lt"/>
              <a:buAutoNum type="arabicPeriod"/>
            </a:pPr>
            <a:r>
              <a:rPr lang="en-US" sz="1900" dirty="0"/>
              <a:t>Guide future research efforts</a:t>
            </a:r>
          </a:p>
          <a:p>
            <a:pPr marL="342900" lvl="0" indent="-342900">
              <a:buFont typeface="+mj-lt"/>
              <a:buAutoNum type="arabicPeriod"/>
            </a:pPr>
            <a:endParaRPr lang="en-US" sz="1900" dirty="0"/>
          </a:p>
          <a:p>
            <a:pPr marL="342900" lvl="0" indent="-342900">
              <a:buFont typeface="+mj-lt"/>
              <a:buAutoNum type="arabicPeriod"/>
            </a:pPr>
            <a:r>
              <a:rPr lang="en-US" sz="1900" dirty="0"/>
              <a:t>Understand how people feel about baking with perennial rye</a:t>
            </a:r>
          </a:p>
          <a:p>
            <a:pPr>
              <a:spcAft>
                <a:spcPts val="1200"/>
              </a:spcAft>
              <a:defRPr sz="2000"/>
            </a:pPr>
            <a:endParaRPr lang="en-US" sz="1900" dirty="0"/>
          </a:p>
          <a:p>
            <a:pPr>
              <a:spcAft>
                <a:spcPts val="1200"/>
              </a:spcAft>
              <a:defRPr sz="2000"/>
            </a:pPr>
            <a:endParaRPr sz="1900"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BB6B-5CF1-1D9C-27C0-2F7693EDA2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688891-DBD5-85FC-07AC-C3C5C7014CF2}"/>
              </a:ext>
            </a:extLst>
          </p:cNvPr>
          <p:cNvSpPr txBox="1"/>
          <p:nvPr/>
        </p:nvSpPr>
        <p:spPr>
          <a:xfrm>
            <a:off x="594360" y="320040"/>
            <a:ext cx="10791993" cy="553998"/>
          </a:xfrm>
          <a:prstGeom prst="rect">
            <a:avLst/>
          </a:prstGeom>
          <a:noFill/>
        </p:spPr>
        <p:txBody>
          <a:bodyPr wrap="none">
            <a:spAutoFit/>
          </a:bodyPr>
          <a:lstStyle/>
          <a:p>
            <a:pPr>
              <a:defRPr sz="3000" b="1"/>
            </a:pPr>
            <a:r>
              <a:rPr dirty="0"/>
              <a:t>What </a:t>
            </a:r>
            <a:r>
              <a:rPr lang="en-US" dirty="0"/>
              <a:t>is expected of me as a participant in the home baking study</a:t>
            </a:r>
            <a:r>
              <a:rPr dirty="0"/>
              <a:t>?</a:t>
            </a:r>
          </a:p>
        </p:txBody>
      </p:sp>
      <p:sp>
        <p:nvSpPr>
          <p:cNvPr id="4" name="TextBox 3">
            <a:extLst>
              <a:ext uri="{FF2B5EF4-FFF2-40B4-BE49-F238E27FC236}">
                <a16:creationId xmlns:a16="http://schemas.microsoft.com/office/drawing/2014/main" id="{6809C9D2-B087-5471-0923-BF0BAEE58280}"/>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5940526E-2098-C0A3-C820-A272CED29FBA}"/>
              </a:ext>
            </a:extLst>
          </p:cNvPr>
          <p:cNvPicPr>
            <a:picLocks noChangeAspect="1"/>
          </p:cNvPicPr>
          <p:nvPr/>
        </p:nvPicPr>
        <p:blipFill>
          <a:blip r:embed="rId2"/>
          <a:stretch>
            <a:fillRect/>
          </a:stretch>
        </p:blipFill>
        <p:spPr>
          <a:xfrm>
            <a:off x="2004552" y="1092609"/>
            <a:ext cx="7690055" cy="5126704"/>
          </a:xfrm>
          <a:prstGeom prst="rect">
            <a:avLst/>
          </a:prstGeom>
        </p:spPr>
      </p:pic>
    </p:spTree>
    <p:extLst>
      <p:ext uri="{BB962C8B-B14F-4D97-AF65-F5344CB8AC3E}">
        <p14:creationId xmlns:p14="http://schemas.microsoft.com/office/powerpoint/2010/main" val="286818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DA68E-21F5-50A8-EAF5-3553EEBF19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827641-8B08-C999-6DB8-0A4278A7AEB4}"/>
              </a:ext>
            </a:extLst>
          </p:cNvPr>
          <p:cNvSpPr txBox="1"/>
          <p:nvPr/>
        </p:nvSpPr>
        <p:spPr>
          <a:xfrm>
            <a:off x="594360" y="320040"/>
            <a:ext cx="10791993" cy="553998"/>
          </a:xfrm>
          <a:prstGeom prst="rect">
            <a:avLst/>
          </a:prstGeom>
          <a:noFill/>
        </p:spPr>
        <p:txBody>
          <a:bodyPr wrap="none">
            <a:spAutoFit/>
          </a:bodyPr>
          <a:lstStyle/>
          <a:p>
            <a:pPr>
              <a:defRPr sz="3000" b="1"/>
            </a:pPr>
            <a:r>
              <a:rPr dirty="0"/>
              <a:t>What </a:t>
            </a:r>
            <a:r>
              <a:rPr lang="en-US" dirty="0"/>
              <a:t>is expected of me as a participant in the home baking study</a:t>
            </a:r>
            <a:r>
              <a:rPr dirty="0"/>
              <a:t>?</a:t>
            </a:r>
          </a:p>
        </p:txBody>
      </p:sp>
      <p:sp>
        <p:nvSpPr>
          <p:cNvPr id="3" name="TextBox 2">
            <a:extLst>
              <a:ext uri="{FF2B5EF4-FFF2-40B4-BE49-F238E27FC236}">
                <a16:creationId xmlns:a16="http://schemas.microsoft.com/office/drawing/2014/main" id="{684ABABB-72F9-4F40-707B-2816FFBAE4C2}"/>
              </a:ext>
            </a:extLst>
          </p:cNvPr>
          <p:cNvSpPr txBox="1"/>
          <p:nvPr/>
        </p:nvSpPr>
        <p:spPr>
          <a:xfrm>
            <a:off x="731520" y="1234440"/>
            <a:ext cx="4391086" cy="5170646"/>
          </a:xfrm>
          <a:prstGeom prst="rect">
            <a:avLst/>
          </a:prstGeom>
          <a:noFill/>
        </p:spPr>
        <p:txBody>
          <a:bodyPr wrap="square">
            <a:spAutoFit/>
          </a:bodyPr>
          <a:lstStyle/>
          <a:p>
            <a:pPr>
              <a:spcAft>
                <a:spcPts val="1200"/>
              </a:spcAft>
              <a:defRPr sz="2000"/>
            </a:pPr>
            <a:r>
              <a:rPr dirty="0"/>
              <a:t>You will receive </a:t>
            </a:r>
            <a:r>
              <a:rPr lang="en-US" b="1" dirty="0"/>
              <a:t>400 or 800</a:t>
            </a:r>
            <a:r>
              <a:rPr b="1" dirty="0"/>
              <a:t> g</a:t>
            </a:r>
            <a:r>
              <a:rPr lang="en-US" b="1" dirty="0"/>
              <a:t>rams</a:t>
            </a:r>
            <a:r>
              <a:rPr b="1" dirty="0"/>
              <a:t> of </a:t>
            </a:r>
            <a:r>
              <a:rPr lang="en-US" b="1" dirty="0"/>
              <a:t>perennial </a:t>
            </a:r>
            <a:r>
              <a:rPr b="1" dirty="0"/>
              <a:t>rye flour</a:t>
            </a:r>
            <a:r>
              <a:rPr dirty="0"/>
              <a:t> </a:t>
            </a:r>
            <a:r>
              <a:rPr lang="en-US" dirty="0"/>
              <a:t>(depending on your baking needs)</a:t>
            </a:r>
            <a:r>
              <a:rPr dirty="0"/>
              <a:t>.</a:t>
            </a:r>
          </a:p>
          <a:p>
            <a:pPr>
              <a:spcAft>
                <a:spcPts val="1200"/>
              </a:spcAft>
              <a:defRPr sz="2000"/>
            </a:pPr>
            <a:r>
              <a:rPr dirty="0"/>
              <a:t>You will</a:t>
            </a:r>
            <a:r>
              <a:rPr lang="en-US" dirty="0"/>
              <a:t> need to</a:t>
            </a:r>
            <a:r>
              <a:rPr dirty="0"/>
              <a:t> </a:t>
            </a:r>
            <a:r>
              <a:rPr b="1" dirty="0"/>
              <a:t>purchase any additional ingredients</a:t>
            </a:r>
            <a:r>
              <a:rPr dirty="0"/>
              <a:t> needed for your baking.</a:t>
            </a:r>
            <a:endParaRPr lang="en-US" dirty="0"/>
          </a:p>
          <a:p>
            <a:pPr>
              <a:spcAft>
                <a:spcPts val="1200"/>
              </a:spcAft>
              <a:defRPr sz="2000"/>
            </a:pPr>
            <a:r>
              <a:rPr lang="da-DK" dirty="0" err="1"/>
              <a:t>You</a:t>
            </a:r>
            <a:r>
              <a:rPr lang="da-DK" dirty="0"/>
              <a:t> </a:t>
            </a:r>
            <a:r>
              <a:rPr lang="da-DK" dirty="0" err="1"/>
              <a:t>will</a:t>
            </a:r>
            <a:r>
              <a:rPr lang="da-DK" dirty="0"/>
              <a:t> </a:t>
            </a:r>
            <a:r>
              <a:rPr lang="da-DK" b="1" dirty="0" err="1"/>
              <a:t>bake</a:t>
            </a:r>
            <a:r>
              <a:rPr lang="da-DK" b="1" dirty="0"/>
              <a:t> </a:t>
            </a:r>
            <a:r>
              <a:rPr lang="da-DK" b="1" dirty="0" err="1"/>
              <a:t>two</a:t>
            </a:r>
            <a:r>
              <a:rPr lang="da-DK" b="1" dirty="0"/>
              <a:t> items</a:t>
            </a:r>
            <a:r>
              <a:rPr lang="da-DK" dirty="0"/>
              <a:t>, </a:t>
            </a:r>
            <a:r>
              <a:rPr lang="da-DK" dirty="0" err="1"/>
              <a:t>one</a:t>
            </a:r>
            <a:r>
              <a:rPr lang="da-DK" dirty="0"/>
              <a:t> </a:t>
            </a:r>
            <a:r>
              <a:rPr lang="da-DK" dirty="0" err="1"/>
              <a:t>using</a:t>
            </a:r>
            <a:r>
              <a:rPr lang="da-DK" dirty="0"/>
              <a:t> the </a:t>
            </a:r>
            <a:r>
              <a:rPr lang="da-DK" dirty="0" err="1"/>
              <a:t>perennial</a:t>
            </a:r>
            <a:r>
              <a:rPr lang="da-DK" dirty="0"/>
              <a:t> </a:t>
            </a:r>
            <a:r>
              <a:rPr lang="da-DK" dirty="0" err="1"/>
              <a:t>rye</a:t>
            </a:r>
            <a:r>
              <a:rPr lang="da-DK" dirty="0"/>
              <a:t> </a:t>
            </a:r>
            <a:r>
              <a:rPr lang="da-DK" dirty="0" err="1"/>
              <a:t>flour</a:t>
            </a:r>
            <a:r>
              <a:rPr lang="da-DK" dirty="0"/>
              <a:t>, </a:t>
            </a:r>
            <a:r>
              <a:rPr lang="da-DK" dirty="0" err="1"/>
              <a:t>one</a:t>
            </a:r>
            <a:r>
              <a:rPr lang="da-DK" dirty="0"/>
              <a:t> </a:t>
            </a:r>
            <a:r>
              <a:rPr lang="da-DK" dirty="0" err="1"/>
              <a:t>using</a:t>
            </a:r>
            <a:r>
              <a:rPr lang="da-DK" dirty="0"/>
              <a:t> </a:t>
            </a:r>
            <a:r>
              <a:rPr lang="da-DK" dirty="0" err="1"/>
              <a:t>your</a:t>
            </a:r>
            <a:r>
              <a:rPr lang="da-DK" dirty="0"/>
              <a:t> normal </a:t>
            </a:r>
            <a:r>
              <a:rPr lang="da-DK" dirty="0" err="1"/>
              <a:t>flour</a:t>
            </a:r>
            <a:r>
              <a:rPr lang="da-DK" dirty="0"/>
              <a:t>.</a:t>
            </a:r>
            <a:endParaRPr dirty="0"/>
          </a:p>
          <a:p>
            <a:pPr>
              <a:spcAft>
                <a:spcPts val="1200"/>
              </a:spcAft>
              <a:defRPr sz="2000"/>
            </a:pPr>
            <a:r>
              <a:rPr dirty="0"/>
              <a:t>You will </a:t>
            </a:r>
            <a:r>
              <a:rPr b="1" dirty="0"/>
              <a:t>take notes</a:t>
            </a:r>
            <a:r>
              <a:rPr dirty="0"/>
              <a:t> during baking</a:t>
            </a:r>
            <a:r>
              <a:rPr lang="en-US" dirty="0"/>
              <a:t>. </a:t>
            </a:r>
          </a:p>
          <a:p>
            <a:pPr>
              <a:spcAft>
                <a:spcPts val="1200"/>
              </a:spcAft>
              <a:defRPr sz="2000"/>
            </a:pPr>
            <a:r>
              <a:rPr lang="en-US" dirty="0"/>
              <a:t>C</a:t>
            </a:r>
            <a:r>
              <a:rPr dirty="0"/>
              <a:t>omplete a </a:t>
            </a:r>
            <a:r>
              <a:rPr lang="en-US" b="1" dirty="0"/>
              <a:t>post-baking</a:t>
            </a:r>
            <a:r>
              <a:rPr b="1" dirty="0"/>
              <a:t> survey</a:t>
            </a:r>
            <a:r>
              <a:rPr lang="en-US" b="1" dirty="0"/>
              <a:t> </a:t>
            </a:r>
            <a:r>
              <a:rPr lang="en-US" dirty="0"/>
              <a:t>(which we estimate will take 15-30 minutes)</a:t>
            </a:r>
            <a:r>
              <a:rPr dirty="0"/>
              <a:t>.</a:t>
            </a:r>
          </a:p>
          <a:p>
            <a:pPr>
              <a:spcAft>
                <a:spcPts val="1200"/>
              </a:spcAft>
              <a:defRPr sz="2000"/>
            </a:pPr>
            <a:r>
              <a:rPr dirty="0"/>
              <a:t>After </a:t>
            </a:r>
            <a:r>
              <a:rPr lang="en-US" dirty="0"/>
              <a:t>submitting</a:t>
            </a:r>
            <a:r>
              <a:rPr dirty="0"/>
              <a:t> the </a:t>
            </a:r>
            <a:r>
              <a:rPr lang="en-US" dirty="0"/>
              <a:t>post-baking </a:t>
            </a:r>
            <a:r>
              <a:rPr dirty="0"/>
              <a:t>survey, you will </a:t>
            </a:r>
            <a:r>
              <a:rPr b="1" dirty="0"/>
              <a:t>receive a small thank-you gift</a:t>
            </a:r>
            <a:r>
              <a:rPr dirty="0"/>
              <a:t>.</a:t>
            </a:r>
          </a:p>
        </p:txBody>
      </p:sp>
      <p:sp>
        <p:nvSpPr>
          <p:cNvPr id="4" name="TextBox 3">
            <a:extLst>
              <a:ext uri="{FF2B5EF4-FFF2-40B4-BE49-F238E27FC236}">
                <a16:creationId xmlns:a16="http://schemas.microsoft.com/office/drawing/2014/main" id="{96628931-4B01-F48A-88D2-1BC40C2A2659}"/>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D5ACD45F-7D55-1929-2A84-420835314734}"/>
              </a:ext>
            </a:extLst>
          </p:cNvPr>
          <p:cNvPicPr>
            <a:picLocks noChangeAspect="1"/>
          </p:cNvPicPr>
          <p:nvPr/>
        </p:nvPicPr>
        <p:blipFill>
          <a:blip r:embed="rId2"/>
          <a:stretch>
            <a:fillRect/>
          </a:stretch>
        </p:blipFill>
        <p:spPr>
          <a:xfrm>
            <a:off x="5514668" y="1231982"/>
            <a:ext cx="6323371" cy="4215581"/>
          </a:xfrm>
          <a:prstGeom prst="rect">
            <a:avLst/>
          </a:prstGeom>
        </p:spPr>
      </p:pic>
    </p:spTree>
    <p:extLst>
      <p:ext uri="{BB962C8B-B14F-4D97-AF65-F5344CB8AC3E}">
        <p14:creationId xmlns:p14="http://schemas.microsoft.com/office/powerpoint/2010/main" val="394052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5A0E-532B-187A-82E8-E144501C82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351185-1806-3660-B8F0-4FCD1D546330}"/>
              </a:ext>
            </a:extLst>
          </p:cNvPr>
          <p:cNvSpPr txBox="1"/>
          <p:nvPr/>
        </p:nvSpPr>
        <p:spPr>
          <a:xfrm>
            <a:off x="594360" y="320040"/>
            <a:ext cx="2716513" cy="553998"/>
          </a:xfrm>
          <a:prstGeom prst="rect">
            <a:avLst/>
          </a:prstGeom>
          <a:noFill/>
        </p:spPr>
        <p:txBody>
          <a:bodyPr wrap="none">
            <a:spAutoFit/>
          </a:bodyPr>
          <a:lstStyle/>
          <a:p>
            <a:pPr>
              <a:defRPr sz="3000" b="1"/>
            </a:pPr>
            <a:r>
              <a:rPr lang="en-US" dirty="0"/>
              <a:t>Optional events</a:t>
            </a:r>
            <a:endParaRPr dirty="0"/>
          </a:p>
        </p:txBody>
      </p:sp>
      <p:sp>
        <p:nvSpPr>
          <p:cNvPr id="3" name="TextBox 2">
            <a:extLst>
              <a:ext uri="{FF2B5EF4-FFF2-40B4-BE49-F238E27FC236}">
                <a16:creationId xmlns:a16="http://schemas.microsoft.com/office/drawing/2014/main" id="{3CCAA353-A4ED-5BF4-C061-B20B0CC9AB5F}"/>
              </a:ext>
            </a:extLst>
          </p:cNvPr>
          <p:cNvSpPr txBox="1"/>
          <p:nvPr/>
        </p:nvSpPr>
        <p:spPr>
          <a:xfrm>
            <a:off x="731520" y="1234440"/>
            <a:ext cx="10789920" cy="4078039"/>
          </a:xfrm>
          <a:prstGeom prst="rect">
            <a:avLst/>
          </a:prstGeom>
          <a:noFill/>
        </p:spPr>
        <p:txBody>
          <a:bodyPr wrap="square">
            <a:spAutoFit/>
          </a:bodyPr>
          <a:lstStyle/>
          <a:p>
            <a:pPr>
              <a:spcAft>
                <a:spcPts val="1200"/>
              </a:spcAft>
              <a:defRPr sz="2100"/>
            </a:pPr>
            <a:r>
              <a:rPr lang="en-US" b="1" dirty="0"/>
              <a:t>Summer 2027</a:t>
            </a:r>
          </a:p>
          <a:p>
            <a:pPr>
              <a:spcAft>
                <a:spcPts val="1200"/>
              </a:spcAft>
              <a:defRPr sz="2100"/>
            </a:pPr>
            <a:r>
              <a:rPr lang="en-US" dirty="0"/>
              <a:t>Public event where you can see perennial rye growing in the field</a:t>
            </a:r>
          </a:p>
          <a:p>
            <a:pPr>
              <a:spcAft>
                <a:spcPts val="1200"/>
              </a:spcAft>
              <a:defRPr sz="2100"/>
            </a:pPr>
            <a:endParaRPr lang="en-US" dirty="0"/>
          </a:p>
          <a:p>
            <a:pPr>
              <a:spcAft>
                <a:spcPts val="1200"/>
              </a:spcAft>
              <a:defRPr sz="2100"/>
            </a:pPr>
            <a:r>
              <a:rPr lang="en-US" b="1" dirty="0"/>
              <a:t>Fall 2027</a:t>
            </a:r>
          </a:p>
          <a:p>
            <a:pPr>
              <a:spcAft>
                <a:spcPts val="1200"/>
              </a:spcAft>
              <a:defRPr sz="2100"/>
            </a:pPr>
            <a:r>
              <a:rPr lang="en-US" dirty="0"/>
              <a:t>A public symposium to share information about perennial rye</a:t>
            </a:r>
          </a:p>
          <a:p>
            <a:pPr>
              <a:spcAft>
                <a:spcPts val="1200"/>
              </a:spcAft>
              <a:defRPr sz="2100"/>
            </a:pPr>
            <a:endParaRPr lang="en-US" dirty="0"/>
          </a:p>
          <a:p>
            <a:pPr>
              <a:spcAft>
                <a:spcPts val="1200"/>
              </a:spcAft>
              <a:defRPr sz="2100"/>
            </a:pPr>
            <a:r>
              <a:rPr lang="en-US" b="1" dirty="0"/>
              <a:t>Both are free and open to the public!</a:t>
            </a:r>
          </a:p>
          <a:p>
            <a:pPr>
              <a:spcAft>
                <a:spcPts val="1200"/>
              </a:spcAft>
              <a:defRPr sz="2100"/>
            </a:pPr>
            <a:r>
              <a:rPr dirty="0"/>
              <a:t>Attendance at the GoodGrain field event and symposium is </a:t>
            </a:r>
            <a:r>
              <a:rPr b="1" i="1" dirty="0"/>
              <a:t>optional</a:t>
            </a:r>
            <a:r>
              <a:rPr dirty="0"/>
              <a:t> and is not required for participation in the Home Baking Evaluation.</a:t>
            </a:r>
          </a:p>
        </p:txBody>
      </p:sp>
      <p:sp>
        <p:nvSpPr>
          <p:cNvPr id="4" name="TextBox 3">
            <a:extLst>
              <a:ext uri="{FF2B5EF4-FFF2-40B4-BE49-F238E27FC236}">
                <a16:creationId xmlns:a16="http://schemas.microsoft.com/office/drawing/2014/main" id="{E6CE7918-B1E7-58A8-C3B5-AE044EC2C291}"/>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extLst>
      <p:ext uri="{BB962C8B-B14F-4D97-AF65-F5344CB8AC3E}">
        <p14:creationId xmlns:p14="http://schemas.microsoft.com/office/powerpoint/2010/main" val="18390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Is it safe to eat?</a:t>
            </a:r>
          </a:p>
        </p:txBody>
      </p:sp>
      <p:sp>
        <p:nvSpPr>
          <p:cNvPr id="3" name="TextBox 2"/>
          <p:cNvSpPr txBox="1"/>
          <p:nvPr/>
        </p:nvSpPr>
        <p:spPr>
          <a:xfrm>
            <a:off x="731520" y="1234440"/>
            <a:ext cx="10789920" cy="2015936"/>
          </a:xfrm>
          <a:prstGeom prst="rect">
            <a:avLst/>
          </a:prstGeom>
          <a:noFill/>
        </p:spPr>
        <p:txBody>
          <a:bodyPr wrap="square">
            <a:spAutoFit/>
          </a:bodyPr>
          <a:lstStyle/>
          <a:p>
            <a:pPr>
              <a:spcAft>
                <a:spcPts val="1200"/>
              </a:spcAft>
              <a:defRPr sz="2100"/>
            </a:pPr>
            <a:r>
              <a:rPr dirty="0"/>
              <a:t>Yes.</a:t>
            </a:r>
          </a:p>
          <a:p>
            <a:pPr>
              <a:spcAft>
                <a:spcPts val="1200"/>
              </a:spcAft>
              <a:defRPr sz="2100"/>
            </a:pPr>
            <a:r>
              <a:rPr dirty="0"/>
              <a:t>The grain used to make the flour you will receive was tested at an independent laboratory to ensure it is safe for human consumption.</a:t>
            </a:r>
          </a:p>
          <a:p>
            <a:pPr>
              <a:spcAft>
                <a:spcPts val="1200"/>
              </a:spcAft>
              <a:defRPr sz="2100"/>
            </a:pPr>
            <a:r>
              <a:rPr dirty="0"/>
              <a:t>The laboratory results are available </a:t>
            </a:r>
            <a:r>
              <a:rPr lang="en-US" dirty="0"/>
              <a:t>(</a:t>
            </a:r>
            <a:r>
              <a:rPr dirty="0"/>
              <a:t>in </a:t>
            </a:r>
            <a:r>
              <a:rPr lang="en-US" dirty="0"/>
              <a:t>Danish) </a:t>
            </a:r>
            <a:r>
              <a:rPr dirty="0"/>
              <a:t>the </a:t>
            </a:r>
            <a:r>
              <a:rPr b="1" dirty="0"/>
              <a:t>GoodGrain Lab Results PDF</a:t>
            </a:r>
            <a:r>
              <a:rPr lang="en-US" dirty="0"/>
              <a:t>, which you can access through the intake survey and/or the Informational Sheet website. </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Is the perennial rye genetically modified?</a:t>
            </a:r>
          </a:p>
        </p:txBody>
      </p:sp>
      <p:sp>
        <p:nvSpPr>
          <p:cNvPr id="3" name="TextBox 2"/>
          <p:cNvSpPr txBox="1"/>
          <p:nvPr/>
        </p:nvSpPr>
        <p:spPr>
          <a:xfrm>
            <a:off x="731520" y="1234440"/>
            <a:ext cx="10789920" cy="1785104"/>
          </a:xfrm>
          <a:prstGeom prst="rect">
            <a:avLst/>
          </a:prstGeom>
          <a:noFill/>
        </p:spPr>
        <p:txBody>
          <a:bodyPr wrap="square">
            <a:spAutoFit/>
          </a:bodyPr>
          <a:lstStyle/>
          <a:p>
            <a:pPr>
              <a:spcAft>
                <a:spcPts val="1200"/>
              </a:spcAft>
              <a:defRPr sz="2000"/>
            </a:pPr>
            <a:r>
              <a:rPr dirty="0"/>
              <a:t>No.</a:t>
            </a:r>
          </a:p>
          <a:p>
            <a:pPr>
              <a:spcAft>
                <a:spcPts val="1200"/>
              </a:spcAft>
              <a:defRPr sz="2000"/>
            </a:pPr>
            <a:r>
              <a:rPr dirty="0"/>
              <a:t>This variety was developed using </a:t>
            </a:r>
            <a:r>
              <a:rPr b="1" dirty="0"/>
              <a:t>traditional breeding methods</a:t>
            </a:r>
            <a:r>
              <a:rPr dirty="0"/>
              <a:t>.</a:t>
            </a:r>
          </a:p>
          <a:p>
            <a:pPr>
              <a:spcAft>
                <a:spcPts val="1200"/>
              </a:spcAft>
              <a:defRPr sz="2000"/>
            </a:pPr>
            <a:r>
              <a:rPr dirty="0"/>
              <a:t>Plants were crossed by hand, followed by selection based on their physical characteristics.</a:t>
            </a:r>
          </a:p>
          <a:p>
            <a:pPr>
              <a:spcAft>
                <a:spcPts val="1200"/>
              </a:spcAft>
              <a:defRPr sz="2000"/>
            </a:pPr>
            <a:r>
              <a:rPr lang="en-US" dirty="0"/>
              <a:t>You can see a scientific publication </a:t>
            </a:r>
            <a:r>
              <a:rPr dirty="0"/>
              <a:t>from 1986 for more information</a:t>
            </a:r>
            <a:r>
              <a:rPr lang="en-US" dirty="0"/>
              <a:t>:</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995DAE88-9238-64B0-F3AA-4D7C1A5A106A}"/>
              </a:ext>
            </a:extLst>
          </p:cNvPr>
          <p:cNvPicPr>
            <a:picLocks noChangeAspect="1"/>
          </p:cNvPicPr>
          <p:nvPr/>
        </p:nvPicPr>
        <p:blipFill>
          <a:blip r:embed="rId2"/>
          <a:stretch>
            <a:fillRect/>
          </a:stretch>
        </p:blipFill>
        <p:spPr>
          <a:xfrm>
            <a:off x="1586912" y="3019544"/>
            <a:ext cx="8759356" cy="30312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Is this grain organic?</a:t>
            </a:r>
          </a:p>
        </p:txBody>
      </p:sp>
      <p:sp>
        <p:nvSpPr>
          <p:cNvPr id="3" name="TextBox 2"/>
          <p:cNvSpPr txBox="1"/>
          <p:nvPr/>
        </p:nvSpPr>
        <p:spPr>
          <a:xfrm>
            <a:off x="731520" y="1234440"/>
            <a:ext cx="10789920" cy="1692771"/>
          </a:xfrm>
          <a:prstGeom prst="rect">
            <a:avLst/>
          </a:prstGeom>
          <a:noFill/>
        </p:spPr>
        <p:txBody>
          <a:bodyPr wrap="square">
            <a:spAutoFit/>
          </a:bodyPr>
          <a:lstStyle/>
          <a:p>
            <a:pPr>
              <a:spcAft>
                <a:spcPts val="1200"/>
              </a:spcAft>
              <a:defRPr sz="2100"/>
            </a:pPr>
            <a:r>
              <a:rPr dirty="0"/>
              <a:t>No.</a:t>
            </a:r>
          </a:p>
          <a:p>
            <a:pPr>
              <a:spcAft>
                <a:spcPts val="1200"/>
              </a:spcAft>
              <a:defRPr sz="2100"/>
            </a:pPr>
            <a:r>
              <a:rPr dirty="0"/>
              <a:t>Aarhus University does not have organically certified land because of the costs and additional administrative complexity.</a:t>
            </a:r>
          </a:p>
          <a:p>
            <a:pPr>
              <a:spcAft>
                <a:spcPts val="1200"/>
              </a:spcAft>
              <a:defRPr sz="2100"/>
            </a:pPr>
            <a:r>
              <a:rPr dirty="0"/>
              <a:t>However, this grain was grown </a:t>
            </a:r>
            <a:r>
              <a:rPr b="1" dirty="0"/>
              <a:t>without the use of pesticides</a:t>
            </a:r>
            <a:r>
              <a:rPr dirty="0"/>
              <a:t>.</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Can I buy this flour?</a:t>
            </a:r>
          </a:p>
        </p:txBody>
      </p:sp>
      <p:sp>
        <p:nvSpPr>
          <p:cNvPr id="3" name="TextBox 2"/>
          <p:cNvSpPr txBox="1"/>
          <p:nvPr/>
        </p:nvSpPr>
        <p:spPr>
          <a:xfrm>
            <a:off x="731520" y="1234440"/>
            <a:ext cx="10789920" cy="1846659"/>
          </a:xfrm>
          <a:prstGeom prst="rect">
            <a:avLst/>
          </a:prstGeom>
          <a:noFill/>
        </p:spPr>
        <p:txBody>
          <a:bodyPr wrap="square">
            <a:spAutoFit/>
          </a:bodyPr>
          <a:lstStyle/>
          <a:p>
            <a:pPr>
              <a:spcAft>
                <a:spcPts val="1200"/>
              </a:spcAft>
              <a:defRPr sz="2100"/>
            </a:pPr>
            <a:r>
              <a:rPr lang="en-US" dirty="0"/>
              <a:t>No. </a:t>
            </a:r>
          </a:p>
          <a:p>
            <a:pPr>
              <a:spcAft>
                <a:spcPts val="1200"/>
              </a:spcAft>
              <a:defRPr sz="2100"/>
            </a:pPr>
            <a:r>
              <a:rPr dirty="0"/>
              <a:t>Flour from this perennial rye variety is </a:t>
            </a:r>
            <a:r>
              <a:rPr b="1" dirty="0"/>
              <a:t>not currently available commercially</a:t>
            </a:r>
            <a:r>
              <a:rPr dirty="0"/>
              <a:t>.</a:t>
            </a:r>
          </a:p>
          <a:p>
            <a:pPr>
              <a:spcAft>
                <a:spcPts val="1200"/>
              </a:spcAft>
              <a:defRPr sz="2100"/>
            </a:pPr>
            <a:r>
              <a:rPr dirty="0"/>
              <a:t>The project is laying the groundwork for a potential commercial release.</a:t>
            </a:r>
          </a:p>
          <a:p>
            <a:pPr>
              <a:spcAft>
                <a:spcPts val="1200"/>
              </a:spcAft>
              <a:defRPr sz="2100"/>
            </a:pPr>
            <a:r>
              <a:rPr dirty="0"/>
              <a:t>Your help with the home baking evaluation is appreciated!</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677464" cy="553998"/>
          </a:xfrm>
          <a:prstGeom prst="rect">
            <a:avLst/>
          </a:prstGeom>
          <a:noFill/>
        </p:spPr>
        <p:txBody>
          <a:bodyPr wrap="none">
            <a:spAutoFit/>
          </a:bodyPr>
          <a:lstStyle/>
          <a:p>
            <a:pPr>
              <a:defRPr sz="3000" b="1"/>
            </a:pPr>
            <a:r>
              <a:rPr dirty="0"/>
              <a:t>For the curious:</a:t>
            </a:r>
          </a:p>
        </p:txBody>
      </p:sp>
      <p:sp>
        <p:nvSpPr>
          <p:cNvPr id="5" name="TextBox 4"/>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9AA6AC-80CE-80A0-0293-1C0E8D2AAF6F}"/>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3" name="Rectangle 2">
            <a:extLst>
              <a:ext uri="{FF2B5EF4-FFF2-40B4-BE49-F238E27FC236}">
                <a16:creationId xmlns:a16="http://schemas.microsoft.com/office/drawing/2014/main" id="{59080F7B-792D-70DE-DDE2-BA19B62D04F2}"/>
              </a:ext>
            </a:extLst>
          </p:cNvPr>
          <p:cNvSpPr/>
          <p:nvPr/>
        </p:nvSpPr>
        <p:spPr>
          <a:xfrm>
            <a:off x="1288026" y="1543665"/>
            <a:ext cx="9665109" cy="413938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520447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E8225-5B71-C888-B848-064D210D14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7EBAFB-9BC6-3A35-9175-AA1040DBB9AB}"/>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6" name="Rectangle 5">
            <a:extLst>
              <a:ext uri="{FF2B5EF4-FFF2-40B4-BE49-F238E27FC236}">
                <a16:creationId xmlns:a16="http://schemas.microsoft.com/office/drawing/2014/main" id="{01820E1A-DCD9-C6BB-8407-8B47A9F07E0F}"/>
              </a:ext>
            </a:extLst>
          </p:cNvPr>
          <p:cNvSpPr/>
          <p:nvPr/>
        </p:nvSpPr>
        <p:spPr>
          <a:xfrm>
            <a:off x="3726426" y="1543665"/>
            <a:ext cx="7226709" cy="323481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77122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CC45-624D-5D70-5532-FDF98DE2C9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372D9F4-973B-AA11-AC83-3685F25ACBEA}"/>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3" name="Rectangle 2">
            <a:extLst>
              <a:ext uri="{FF2B5EF4-FFF2-40B4-BE49-F238E27FC236}">
                <a16:creationId xmlns:a16="http://schemas.microsoft.com/office/drawing/2014/main" id="{7D201734-7D7D-984E-CA50-586FF3B85B23}"/>
              </a:ext>
            </a:extLst>
          </p:cNvPr>
          <p:cNvSpPr/>
          <p:nvPr/>
        </p:nvSpPr>
        <p:spPr>
          <a:xfrm>
            <a:off x="6096000" y="1543665"/>
            <a:ext cx="4857135" cy="328397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59239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97B02-3C80-37CD-5394-4213A2E213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AEB6AA-7278-A99E-DFF2-1B7798409F36}"/>
              </a:ext>
            </a:extLst>
          </p:cNvPr>
          <p:cNvPicPr>
            <a:picLocks noChangeAspect="1"/>
          </p:cNvPicPr>
          <p:nvPr/>
        </p:nvPicPr>
        <p:blipFill>
          <a:blip r:embed="rId2"/>
          <a:stretch>
            <a:fillRect/>
          </a:stretch>
        </p:blipFill>
        <p:spPr>
          <a:xfrm>
            <a:off x="1102005" y="534234"/>
            <a:ext cx="9752962" cy="5011160"/>
          </a:xfrm>
          <a:prstGeom prst="rect">
            <a:avLst/>
          </a:prstGeom>
        </p:spPr>
      </p:pic>
      <p:sp>
        <p:nvSpPr>
          <p:cNvPr id="3" name="Rectangle 2">
            <a:extLst>
              <a:ext uri="{FF2B5EF4-FFF2-40B4-BE49-F238E27FC236}">
                <a16:creationId xmlns:a16="http://schemas.microsoft.com/office/drawing/2014/main" id="{87DB19D9-8B98-2D32-9D29-2119C0349212}"/>
              </a:ext>
            </a:extLst>
          </p:cNvPr>
          <p:cNvSpPr/>
          <p:nvPr/>
        </p:nvSpPr>
        <p:spPr>
          <a:xfrm>
            <a:off x="8278761" y="1543665"/>
            <a:ext cx="2674374" cy="3264309"/>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77436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8179-E6AF-C546-6336-880E94EA2C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E201B5-F816-4DD2-8AAA-8AD3BDC4F9FD}"/>
              </a:ext>
            </a:extLst>
          </p:cNvPr>
          <p:cNvPicPr>
            <a:picLocks noChangeAspect="1"/>
          </p:cNvPicPr>
          <p:nvPr/>
        </p:nvPicPr>
        <p:blipFill>
          <a:blip r:embed="rId2"/>
          <a:stretch>
            <a:fillRect/>
          </a:stretch>
        </p:blipFill>
        <p:spPr>
          <a:xfrm>
            <a:off x="1102005" y="534234"/>
            <a:ext cx="9752962" cy="5011160"/>
          </a:xfrm>
          <a:prstGeom prst="rect">
            <a:avLst/>
          </a:prstGeom>
        </p:spPr>
      </p:pic>
    </p:spTree>
    <p:extLst>
      <p:ext uri="{BB962C8B-B14F-4D97-AF65-F5344CB8AC3E}">
        <p14:creationId xmlns:p14="http://schemas.microsoft.com/office/powerpoint/2010/main" val="1639626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Why might perennial crops be useful?</a:t>
            </a:r>
          </a:p>
        </p:txBody>
      </p:sp>
      <p:sp>
        <p:nvSpPr>
          <p:cNvPr id="3" name="TextBox 2"/>
          <p:cNvSpPr txBox="1"/>
          <p:nvPr/>
        </p:nvSpPr>
        <p:spPr>
          <a:xfrm>
            <a:off x="731520" y="1234440"/>
            <a:ext cx="10789920" cy="3662541"/>
          </a:xfrm>
          <a:prstGeom prst="rect">
            <a:avLst/>
          </a:prstGeom>
          <a:noFill/>
        </p:spPr>
        <p:txBody>
          <a:bodyPr wrap="square">
            <a:spAutoFit/>
          </a:bodyPr>
          <a:lstStyle/>
          <a:p>
            <a:pPr>
              <a:spcAft>
                <a:spcPts val="1200"/>
              </a:spcAft>
              <a:defRPr sz="1800"/>
            </a:pPr>
            <a:r>
              <a:rPr dirty="0"/>
              <a:t>It is not yet clear whether annual plants are inherently superior for food production or whether humans simply happened to domesticate them.</a:t>
            </a:r>
          </a:p>
          <a:p>
            <a:pPr>
              <a:spcAft>
                <a:spcPts val="1200"/>
              </a:spcAft>
              <a:defRPr sz="1800"/>
            </a:pPr>
            <a:r>
              <a:rPr dirty="0"/>
              <a:t>Having more perennials integrated into agricultural land would offer environmental benefits.</a:t>
            </a:r>
          </a:p>
          <a:p>
            <a:pPr marL="285750" indent="-285750">
              <a:spcAft>
                <a:spcPts val="1200"/>
              </a:spcAft>
              <a:buFont typeface="Arial" panose="020B0604020202020204" pitchFamily="34" charset="0"/>
              <a:buChar char="•"/>
              <a:defRPr sz="1800"/>
            </a:pPr>
            <a:r>
              <a:rPr dirty="0"/>
              <a:t>Perennials can help </a:t>
            </a:r>
            <a:r>
              <a:rPr b="1" dirty="0"/>
              <a:t>put carbon into the soil</a:t>
            </a:r>
            <a:r>
              <a:rPr dirty="0"/>
              <a:t>.</a:t>
            </a:r>
          </a:p>
          <a:p>
            <a:pPr marL="285750" indent="-285750">
              <a:spcAft>
                <a:spcPts val="1200"/>
              </a:spcAft>
              <a:buFont typeface="Arial" panose="020B0604020202020204" pitchFamily="34" charset="0"/>
              <a:buChar char="•"/>
              <a:defRPr sz="1800"/>
            </a:pPr>
            <a:r>
              <a:rPr dirty="0"/>
              <a:t>They </a:t>
            </a:r>
            <a:r>
              <a:rPr b="1" dirty="0"/>
              <a:t>provide soil cover year-round</a:t>
            </a:r>
            <a:r>
              <a:rPr lang="en-US" dirty="0"/>
              <a:t>, protecting it from wind and rain</a:t>
            </a:r>
            <a:r>
              <a:rPr dirty="0"/>
              <a:t>.</a:t>
            </a:r>
          </a:p>
          <a:p>
            <a:pPr marL="285750" indent="-285750">
              <a:spcAft>
                <a:spcPts val="1200"/>
              </a:spcAft>
              <a:buFont typeface="Arial" panose="020B0604020202020204" pitchFamily="34" charset="0"/>
              <a:buChar char="•"/>
              <a:defRPr sz="1800"/>
            </a:pPr>
            <a:r>
              <a:rPr dirty="0"/>
              <a:t>They can use resources</a:t>
            </a:r>
            <a:r>
              <a:rPr lang="en-US" dirty="0"/>
              <a:t>,</a:t>
            </a:r>
            <a:r>
              <a:rPr dirty="0"/>
              <a:t> such as water and nitrogen</a:t>
            </a:r>
            <a:r>
              <a:rPr lang="en-US" dirty="0"/>
              <a:t>,</a:t>
            </a:r>
            <a:r>
              <a:rPr dirty="0"/>
              <a:t> </a:t>
            </a:r>
            <a:r>
              <a:rPr b="1" dirty="0"/>
              <a:t>more efficiently</a:t>
            </a:r>
            <a:r>
              <a:rPr dirty="0"/>
              <a:t>.</a:t>
            </a:r>
            <a:endParaRPr lang="en-US" dirty="0"/>
          </a:p>
          <a:p>
            <a:pPr marL="285750" indent="-285750">
              <a:spcAft>
                <a:spcPts val="1200"/>
              </a:spcAft>
              <a:buFont typeface="Arial" panose="020B0604020202020204" pitchFamily="34" charset="0"/>
              <a:buChar char="•"/>
              <a:defRPr sz="1800"/>
            </a:pPr>
            <a:r>
              <a:rPr lang="da-DK" dirty="0"/>
              <a:t>Living </a:t>
            </a:r>
            <a:r>
              <a:rPr lang="da-DK" dirty="0" err="1"/>
              <a:t>roots</a:t>
            </a:r>
            <a:r>
              <a:rPr lang="da-DK" dirty="0"/>
              <a:t> </a:t>
            </a:r>
            <a:r>
              <a:rPr lang="da-DK" dirty="0" err="1"/>
              <a:t>can</a:t>
            </a:r>
            <a:r>
              <a:rPr lang="da-DK" dirty="0"/>
              <a:t> </a:t>
            </a:r>
            <a:r>
              <a:rPr lang="da-DK" dirty="0" err="1"/>
              <a:t>help</a:t>
            </a:r>
            <a:r>
              <a:rPr lang="da-DK" dirty="0"/>
              <a:t> promote a </a:t>
            </a:r>
            <a:r>
              <a:rPr lang="da-DK" dirty="0" err="1"/>
              <a:t>healthier</a:t>
            </a:r>
            <a:r>
              <a:rPr lang="da-DK" dirty="0"/>
              <a:t> and </a:t>
            </a:r>
            <a:r>
              <a:rPr lang="da-DK" b="1" dirty="0"/>
              <a:t>more </a:t>
            </a:r>
            <a:r>
              <a:rPr lang="da-DK" b="1" dirty="0" err="1"/>
              <a:t>active</a:t>
            </a:r>
            <a:r>
              <a:rPr lang="da-DK" b="1" dirty="0"/>
              <a:t> </a:t>
            </a:r>
            <a:r>
              <a:rPr lang="da-DK" b="1" dirty="0" err="1"/>
              <a:t>soil</a:t>
            </a:r>
            <a:r>
              <a:rPr lang="da-DK" b="1" dirty="0"/>
              <a:t> </a:t>
            </a:r>
            <a:r>
              <a:rPr lang="da-DK" b="1" dirty="0" err="1"/>
              <a:t>biology</a:t>
            </a:r>
            <a:endParaRPr lang="da-DK" b="1" dirty="0"/>
          </a:p>
          <a:p>
            <a:pPr>
              <a:spcAft>
                <a:spcPts val="1200"/>
              </a:spcAft>
              <a:defRPr sz="1800"/>
            </a:pPr>
            <a:r>
              <a:rPr lang="da-DK" dirty="0"/>
              <a:t> </a:t>
            </a:r>
            <a:endParaRPr dirty="0"/>
          </a:p>
          <a:p>
            <a:pPr>
              <a:spcAft>
                <a:spcPts val="1200"/>
              </a:spcAft>
              <a:defRPr sz="1800"/>
            </a:pPr>
            <a:r>
              <a:rPr dirty="0"/>
              <a:t>Creating perennial versions of staple crops, such as rye, is one way to integrate more perennials into agriculture.</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736903" cy="553998"/>
          </a:xfrm>
          <a:prstGeom prst="rect">
            <a:avLst/>
          </a:prstGeom>
          <a:noFill/>
        </p:spPr>
        <p:txBody>
          <a:bodyPr wrap="none">
            <a:spAutoFit/>
          </a:bodyPr>
          <a:lstStyle/>
          <a:p>
            <a:pPr>
              <a:defRPr sz="3000" b="1"/>
            </a:pPr>
            <a:r>
              <a:rPr lang="en-US" dirty="0"/>
              <a:t>Perennial grains</a:t>
            </a:r>
            <a:endParaRPr dirty="0"/>
          </a:p>
        </p:txBody>
      </p:sp>
      <p:sp>
        <p:nvSpPr>
          <p:cNvPr id="3" name="TextBox 2"/>
          <p:cNvSpPr txBox="1"/>
          <p:nvPr/>
        </p:nvSpPr>
        <p:spPr>
          <a:xfrm>
            <a:off x="731520" y="1234440"/>
            <a:ext cx="10789920" cy="3508653"/>
          </a:xfrm>
          <a:prstGeom prst="rect">
            <a:avLst/>
          </a:prstGeom>
          <a:noFill/>
        </p:spPr>
        <p:txBody>
          <a:bodyPr wrap="square">
            <a:spAutoFit/>
          </a:bodyPr>
          <a:lstStyle/>
          <a:p>
            <a:pPr>
              <a:spcAft>
                <a:spcPts val="1200"/>
              </a:spcAft>
              <a:defRPr sz="1900"/>
            </a:pPr>
            <a:r>
              <a:rPr lang="en-US" dirty="0"/>
              <a:t>There have been efforts to breed </a:t>
            </a:r>
            <a:r>
              <a:rPr lang="en-US" b="1" dirty="0"/>
              <a:t>perennial wheat </a:t>
            </a:r>
            <a:r>
              <a:rPr lang="en-US" dirty="0"/>
              <a:t>since the 1930s.</a:t>
            </a:r>
          </a:p>
          <a:p>
            <a:pPr>
              <a:spcAft>
                <a:spcPts val="1200"/>
              </a:spcAft>
              <a:defRPr sz="1900"/>
            </a:pPr>
            <a:r>
              <a:rPr lang="en-US" dirty="0"/>
              <a:t>There has been success in creating wheat plants that regrow after harvest.</a:t>
            </a:r>
          </a:p>
          <a:p>
            <a:pPr>
              <a:spcAft>
                <a:spcPts val="1200"/>
              </a:spcAft>
              <a:defRPr sz="1900"/>
            </a:pPr>
            <a:r>
              <a:rPr lang="en-US" dirty="0"/>
              <a:t>Multiple harvests is still difficult, and grain yields are low. </a:t>
            </a:r>
          </a:p>
          <a:p>
            <a:pPr>
              <a:spcAft>
                <a:spcPts val="1200"/>
              </a:spcAft>
              <a:defRPr sz="1900"/>
            </a:pPr>
            <a:endParaRPr lang="en-US" dirty="0"/>
          </a:p>
          <a:p>
            <a:pPr>
              <a:spcAft>
                <a:spcPts val="1200"/>
              </a:spcAft>
              <a:defRPr sz="1900"/>
            </a:pPr>
            <a:r>
              <a:rPr lang="en-US" b="1" dirty="0"/>
              <a:t>Intermediate wheatgrass</a:t>
            </a:r>
            <a:r>
              <a:rPr lang="en-US" dirty="0"/>
              <a:t> has been used as a forage, and is being bred for grain production.</a:t>
            </a:r>
          </a:p>
          <a:p>
            <a:pPr>
              <a:spcAft>
                <a:spcPts val="1200"/>
              </a:spcAft>
              <a:defRPr sz="1900"/>
            </a:pPr>
            <a:r>
              <a:rPr lang="en-US" dirty="0"/>
              <a:t>The grain has been registered with the name Kernza®. </a:t>
            </a:r>
          </a:p>
          <a:p>
            <a:pPr>
              <a:spcAft>
                <a:spcPts val="1200"/>
              </a:spcAft>
              <a:defRPr sz="1900"/>
            </a:pPr>
            <a:r>
              <a:rPr lang="en-US" dirty="0"/>
              <a:t>As of 2026, Kernza® is not approved for human consumption in the European Union. </a:t>
            </a:r>
          </a:p>
          <a:p>
            <a:pPr>
              <a:spcAft>
                <a:spcPts val="1200"/>
              </a:spcAft>
              <a:defRPr sz="1900"/>
            </a:pPr>
            <a:r>
              <a:rPr lang="en-US" dirty="0"/>
              <a:t>Grain yields are low.</a:t>
            </a:r>
          </a:p>
        </p:txBody>
      </p:sp>
      <p:sp>
        <p:nvSpPr>
          <p:cNvPr id="5" name="TextBox 4"/>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6898D-4F30-88F6-EDC5-42333B3E97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28F489-47C4-07FC-5954-A209F0A60B89}"/>
              </a:ext>
            </a:extLst>
          </p:cNvPr>
          <p:cNvSpPr txBox="1"/>
          <p:nvPr/>
        </p:nvSpPr>
        <p:spPr>
          <a:xfrm>
            <a:off x="594360" y="320040"/>
            <a:ext cx="5262466" cy="553998"/>
          </a:xfrm>
          <a:prstGeom prst="rect">
            <a:avLst/>
          </a:prstGeom>
          <a:noFill/>
        </p:spPr>
        <p:txBody>
          <a:bodyPr wrap="none">
            <a:spAutoFit/>
          </a:bodyPr>
          <a:lstStyle/>
          <a:p>
            <a:pPr>
              <a:defRPr sz="3000" b="1"/>
            </a:pPr>
            <a:r>
              <a:rPr lang="en-US" dirty="0"/>
              <a:t>The history of this perennial rye</a:t>
            </a:r>
          </a:p>
        </p:txBody>
      </p:sp>
      <p:sp>
        <p:nvSpPr>
          <p:cNvPr id="3" name="TextBox 2">
            <a:extLst>
              <a:ext uri="{FF2B5EF4-FFF2-40B4-BE49-F238E27FC236}">
                <a16:creationId xmlns:a16="http://schemas.microsoft.com/office/drawing/2014/main" id="{9F62D64E-CFA6-9879-7CF7-A409483DC921}"/>
              </a:ext>
            </a:extLst>
          </p:cNvPr>
          <p:cNvSpPr txBox="1"/>
          <p:nvPr/>
        </p:nvSpPr>
        <p:spPr>
          <a:xfrm>
            <a:off x="731520" y="1234440"/>
            <a:ext cx="10789920" cy="1569660"/>
          </a:xfrm>
          <a:prstGeom prst="rect">
            <a:avLst/>
          </a:prstGeom>
          <a:noFill/>
        </p:spPr>
        <p:txBody>
          <a:bodyPr wrap="square">
            <a:spAutoFit/>
          </a:bodyPr>
          <a:lstStyle/>
          <a:p>
            <a:pPr>
              <a:spcAft>
                <a:spcPts val="1200"/>
              </a:spcAft>
              <a:defRPr sz="1900"/>
            </a:pPr>
            <a:r>
              <a:rPr lang="en-US" dirty="0"/>
              <a:t>At the University of Hohenheim in Germany, </a:t>
            </a:r>
            <a:r>
              <a:rPr lang="en-US" b="1" dirty="0"/>
              <a:t>Dr. Reimann-Philips </a:t>
            </a:r>
            <a:r>
              <a:rPr lang="en-US" dirty="0"/>
              <a:t>and his team crossed annual rye with an old perennial rye ancestor in the 1960s.</a:t>
            </a:r>
          </a:p>
          <a:p>
            <a:pPr>
              <a:spcAft>
                <a:spcPts val="1200"/>
              </a:spcAft>
              <a:defRPr sz="1900"/>
            </a:pPr>
            <a:r>
              <a:rPr lang="en-US" dirty="0"/>
              <a:t>They tested the resulting plants and made further selections.</a:t>
            </a:r>
          </a:p>
          <a:p>
            <a:pPr>
              <a:spcAft>
                <a:spcPts val="1200"/>
              </a:spcAft>
              <a:defRPr sz="1900"/>
            </a:pPr>
            <a:r>
              <a:rPr lang="en-US" dirty="0"/>
              <a:t>The resulting crop was perennial and, in the 1990s, was submitted for consideration as a variety in Germany.</a:t>
            </a:r>
          </a:p>
        </p:txBody>
      </p:sp>
      <p:sp>
        <p:nvSpPr>
          <p:cNvPr id="5" name="TextBox 4">
            <a:extLst>
              <a:ext uri="{FF2B5EF4-FFF2-40B4-BE49-F238E27FC236}">
                <a16:creationId xmlns:a16="http://schemas.microsoft.com/office/drawing/2014/main" id="{F91BC47B-01B8-B108-78AF-F3F9BBE7EAB3}"/>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extLst>
      <p:ext uri="{BB962C8B-B14F-4D97-AF65-F5344CB8AC3E}">
        <p14:creationId xmlns:p14="http://schemas.microsoft.com/office/powerpoint/2010/main" val="649456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17A2-DFF0-F91F-EE1C-7DD6DA50E3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EE090C-96DA-D2BD-1855-5FC6AD7EA196}"/>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7" name="Picture 6">
            <a:extLst>
              <a:ext uri="{FF2B5EF4-FFF2-40B4-BE49-F238E27FC236}">
                <a16:creationId xmlns:a16="http://schemas.microsoft.com/office/drawing/2014/main" id="{15ACBA8D-C84F-6610-F5E3-68E47F58C180}"/>
              </a:ext>
            </a:extLst>
          </p:cNvPr>
          <p:cNvPicPr>
            <a:picLocks noChangeAspect="1"/>
          </p:cNvPicPr>
          <p:nvPr/>
        </p:nvPicPr>
        <p:blipFill>
          <a:blip r:embed="rId2"/>
          <a:stretch>
            <a:fillRect/>
          </a:stretch>
        </p:blipFill>
        <p:spPr>
          <a:xfrm>
            <a:off x="2088631" y="874038"/>
            <a:ext cx="8341090" cy="4333964"/>
          </a:xfrm>
          <a:prstGeom prst="rect">
            <a:avLst/>
          </a:prstGeom>
        </p:spPr>
      </p:pic>
    </p:spTree>
    <p:extLst>
      <p:ext uri="{BB962C8B-B14F-4D97-AF65-F5344CB8AC3E}">
        <p14:creationId xmlns:p14="http://schemas.microsoft.com/office/powerpoint/2010/main" val="3551212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How long will the crop produce grain?</a:t>
            </a:r>
          </a:p>
        </p:txBody>
      </p:sp>
      <p:sp>
        <p:nvSpPr>
          <p:cNvPr id="3" name="TextBox 2"/>
          <p:cNvSpPr txBox="1"/>
          <p:nvPr/>
        </p:nvSpPr>
        <p:spPr>
          <a:xfrm>
            <a:off x="731520" y="1234440"/>
            <a:ext cx="10789920" cy="1846659"/>
          </a:xfrm>
          <a:prstGeom prst="rect">
            <a:avLst/>
          </a:prstGeom>
          <a:noFill/>
        </p:spPr>
        <p:txBody>
          <a:bodyPr wrap="square">
            <a:spAutoFit/>
          </a:bodyPr>
          <a:lstStyle/>
          <a:p>
            <a:pPr>
              <a:spcAft>
                <a:spcPts val="1200"/>
              </a:spcAft>
              <a:defRPr sz="2100"/>
            </a:pPr>
            <a:r>
              <a:rPr dirty="0"/>
              <a:t>This has </a:t>
            </a:r>
            <a:r>
              <a:rPr b="1" dirty="0"/>
              <a:t>not yet been tested </a:t>
            </a:r>
            <a:r>
              <a:rPr dirty="0"/>
              <a:t>extensively.</a:t>
            </a:r>
          </a:p>
          <a:p>
            <a:pPr>
              <a:spcAft>
                <a:spcPts val="1200"/>
              </a:spcAft>
              <a:defRPr sz="2100"/>
            </a:pPr>
            <a:r>
              <a:rPr dirty="0"/>
              <a:t>The perennial rye appears to reliably produce grain for </a:t>
            </a:r>
            <a:r>
              <a:rPr b="1" dirty="0"/>
              <a:t>at least two years</a:t>
            </a:r>
            <a:r>
              <a:rPr dirty="0"/>
              <a:t>.</a:t>
            </a:r>
          </a:p>
          <a:p>
            <a:pPr>
              <a:spcAft>
                <a:spcPts val="1200"/>
              </a:spcAft>
              <a:defRPr sz="2100"/>
            </a:pPr>
            <a:r>
              <a:rPr dirty="0"/>
              <a:t>After that, weeds and diseases may become problems.</a:t>
            </a:r>
          </a:p>
          <a:p>
            <a:pPr>
              <a:spcAft>
                <a:spcPts val="1200"/>
              </a:spcAft>
              <a:defRPr sz="2100"/>
            </a:pPr>
            <a:r>
              <a:rPr b="1" dirty="0"/>
              <a:t>More research </a:t>
            </a:r>
            <a:r>
              <a:rPr dirty="0"/>
              <a:t>is needed to determine the optimal way to manage the crop.</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What happened to the crop?</a:t>
            </a:r>
          </a:p>
        </p:txBody>
      </p:sp>
      <p:sp>
        <p:nvSpPr>
          <p:cNvPr id="3" name="TextBox 2"/>
          <p:cNvSpPr txBox="1"/>
          <p:nvPr/>
        </p:nvSpPr>
        <p:spPr>
          <a:xfrm>
            <a:off x="731520" y="1234440"/>
            <a:ext cx="10789920" cy="2169825"/>
          </a:xfrm>
          <a:prstGeom prst="rect">
            <a:avLst/>
          </a:prstGeom>
          <a:noFill/>
        </p:spPr>
        <p:txBody>
          <a:bodyPr wrap="square">
            <a:spAutoFit/>
          </a:bodyPr>
          <a:lstStyle/>
          <a:p>
            <a:pPr>
              <a:spcAft>
                <a:spcPts val="1200"/>
              </a:spcAft>
              <a:defRPr sz="1900"/>
            </a:pPr>
            <a:r>
              <a:rPr dirty="0"/>
              <a:t>The German government </a:t>
            </a:r>
            <a:r>
              <a:rPr b="1" dirty="0"/>
              <a:t>rejected the application</a:t>
            </a:r>
            <a:r>
              <a:rPr dirty="0"/>
              <a:t>, and the crop was never released as a variety.</a:t>
            </a:r>
          </a:p>
          <a:p>
            <a:pPr>
              <a:spcAft>
                <a:spcPts val="1200"/>
              </a:spcAft>
              <a:defRPr sz="1900"/>
            </a:pPr>
            <a:r>
              <a:rPr dirty="0"/>
              <a:t>The breeders maintained some plots as a passion project.</a:t>
            </a:r>
          </a:p>
          <a:p>
            <a:pPr>
              <a:spcAft>
                <a:spcPts val="1200"/>
              </a:spcAft>
              <a:defRPr sz="1900"/>
            </a:pPr>
            <a:r>
              <a:rPr dirty="0"/>
              <a:t>Some material was later released as a </a:t>
            </a:r>
            <a:r>
              <a:rPr b="1" dirty="0"/>
              <a:t>wildlife forage crop</a:t>
            </a:r>
            <a:r>
              <a:rPr dirty="0"/>
              <a:t>.</a:t>
            </a:r>
          </a:p>
          <a:p>
            <a:pPr>
              <a:spcAft>
                <a:spcPts val="1200"/>
              </a:spcAft>
              <a:defRPr sz="1900"/>
            </a:pPr>
            <a:r>
              <a:rPr dirty="0"/>
              <a:t>The perennial rye received little attention for about thirty years.</a:t>
            </a:r>
          </a:p>
          <a:p>
            <a:pPr>
              <a:spcAft>
                <a:spcPts val="1200"/>
              </a:spcAft>
              <a:defRPr sz="1900"/>
            </a:pPr>
            <a:r>
              <a:rPr dirty="0"/>
              <a:t>In 2023, Dr. Thomas Miedaner shared seeds with researchers at Aarhus University.</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Why are we interested now?</a:t>
            </a:r>
          </a:p>
        </p:txBody>
      </p:sp>
      <p:sp>
        <p:nvSpPr>
          <p:cNvPr id="3" name="TextBox 2"/>
          <p:cNvSpPr txBox="1"/>
          <p:nvPr/>
        </p:nvSpPr>
        <p:spPr>
          <a:xfrm>
            <a:off x="731520" y="1234440"/>
            <a:ext cx="10789920" cy="2462213"/>
          </a:xfrm>
          <a:prstGeom prst="rect">
            <a:avLst/>
          </a:prstGeom>
          <a:noFill/>
        </p:spPr>
        <p:txBody>
          <a:bodyPr wrap="square">
            <a:spAutoFit/>
          </a:bodyPr>
          <a:lstStyle/>
          <a:p>
            <a:pPr>
              <a:spcAft>
                <a:spcPts val="1200"/>
              </a:spcAft>
              <a:defRPr sz="1900"/>
            </a:pPr>
            <a:r>
              <a:rPr lang="en-US" dirty="0"/>
              <a:t>R</a:t>
            </a:r>
            <a:r>
              <a:rPr dirty="0"/>
              <a:t>esearchers at Aarhus University think perennial rye has a lot of potential in Denmark.</a:t>
            </a:r>
          </a:p>
          <a:p>
            <a:pPr>
              <a:spcAft>
                <a:spcPts val="1200"/>
              </a:spcAft>
              <a:defRPr sz="1900"/>
            </a:pPr>
            <a:r>
              <a:rPr dirty="0"/>
              <a:t>In 2025, the perennial rye was </a:t>
            </a:r>
            <a:r>
              <a:rPr b="1" dirty="0"/>
              <a:t>tested side-by-side</a:t>
            </a:r>
            <a:r>
              <a:rPr dirty="0"/>
              <a:t> with a high-yielding annual rye.</a:t>
            </a:r>
          </a:p>
          <a:p>
            <a:pPr>
              <a:spcAft>
                <a:spcPts val="1200"/>
              </a:spcAft>
              <a:defRPr sz="1900"/>
            </a:pPr>
            <a:r>
              <a:rPr dirty="0"/>
              <a:t>It produced about </a:t>
            </a:r>
            <a:r>
              <a:rPr b="1" dirty="0"/>
              <a:t>half the grain yield</a:t>
            </a:r>
            <a:r>
              <a:rPr dirty="0"/>
              <a:t> </a:t>
            </a:r>
            <a:r>
              <a:rPr lang="en-US" dirty="0"/>
              <a:t>(3-4 tons per hectare) </a:t>
            </a:r>
            <a:r>
              <a:rPr dirty="0"/>
              <a:t>of the modern annual rye</a:t>
            </a:r>
            <a:r>
              <a:rPr lang="en-US" dirty="0"/>
              <a:t> (8-9 tons per hectare)</a:t>
            </a:r>
            <a:r>
              <a:rPr dirty="0"/>
              <a:t>.</a:t>
            </a:r>
          </a:p>
          <a:p>
            <a:pPr>
              <a:spcAft>
                <a:spcPts val="1200"/>
              </a:spcAft>
              <a:defRPr sz="1900"/>
            </a:pPr>
            <a:r>
              <a:rPr dirty="0"/>
              <a:t>The result was especially promising given that the perennial rye was crossed with varieties from the 1960s.</a:t>
            </a:r>
          </a:p>
          <a:p>
            <a:pPr>
              <a:spcAft>
                <a:spcPts val="1200"/>
              </a:spcAft>
              <a:defRPr sz="1900"/>
            </a:pPr>
            <a:r>
              <a:rPr dirty="0"/>
              <a:t>GoodGrain is part of the effort to develop and understand this variety.</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Thank you!</a:t>
            </a:r>
          </a:p>
        </p:txBody>
      </p:sp>
      <p:sp>
        <p:nvSpPr>
          <p:cNvPr id="3" name="TextBox 2"/>
          <p:cNvSpPr txBox="1"/>
          <p:nvPr/>
        </p:nvSpPr>
        <p:spPr>
          <a:xfrm>
            <a:off x="731520" y="1463040"/>
            <a:ext cx="10789920" cy="1215717"/>
          </a:xfrm>
          <a:prstGeom prst="rect">
            <a:avLst/>
          </a:prstGeom>
          <a:noFill/>
        </p:spPr>
        <p:txBody>
          <a:bodyPr wrap="square">
            <a:spAutoFit/>
          </a:bodyPr>
          <a:lstStyle/>
          <a:p>
            <a:pPr>
              <a:spcAft>
                <a:spcPts val="1200"/>
              </a:spcAft>
              <a:defRPr sz="2100"/>
            </a:pPr>
            <a:r>
              <a:rPr dirty="0"/>
              <a:t>Thank you for considering participation in the GoodGrain Home Baking Evaluation.</a:t>
            </a:r>
          </a:p>
          <a:p>
            <a:pPr>
              <a:spcAft>
                <a:spcPts val="1200"/>
              </a:spcAft>
              <a:defRPr sz="2100"/>
            </a:pPr>
            <a:r>
              <a:rPr dirty="0"/>
              <a:t>Your baking experience will help us understand how this perennial rye performs in home kitchens and how people feel about eating a perennial grain.</a:t>
            </a:r>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55048-EE4E-CE47-C6FB-36903CC078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5C0D15-96B2-96FC-117B-8059D410F680}"/>
              </a:ext>
            </a:extLst>
          </p:cNvPr>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FC053283-D9FD-4551-92AD-59AA734D0191}"/>
              </a:ext>
            </a:extLst>
          </p:cNvPr>
          <p:cNvPicPr>
            <a:picLocks noChangeAspect="1"/>
          </p:cNvPicPr>
          <p:nvPr/>
        </p:nvPicPr>
        <p:blipFill>
          <a:blip r:embed="rId2"/>
          <a:stretch>
            <a:fillRect/>
          </a:stretch>
        </p:blipFill>
        <p:spPr>
          <a:xfrm>
            <a:off x="1802594" y="0"/>
            <a:ext cx="8586812" cy="6858000"/>
          </a:xfrm>
          <a:prstGeom prst="rect">
            <a:avLst/>
          </a:prstGeom>
        </p:spPr>
      </p:pic>
    </p:spTree>
    <p:extLst>
      <p:ext uri="{BB962C8B-B14F-4D97-AF65-F5344CB8AC3E}">
        <p14:creationId xmlns:p14="http://schemas.microsoft.com/office/powerpoint/2010/main" val="1016804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731520"/>
          </a:xfrm>
          <a:prstGeom prst="rect">
            <a:avLst/>
          </a:prstGeom>
          <a:noFill/>
        </p:spPr>
        <p:txBody>
          <a:bodyPr wrap="none">
            <a:spAutoFit/>
          </a:bodyPr>
          <a:lstStyle/>
          <a:p>
            <a:pPr>
              <a:defRPr sz="3000" b="1"/>
            </a:pPr>
            <a:r>
              <a:t>Funding and project partners</a:t>
            </a:r>
          </a:p>
        </p:txBody>
      </p:sp>
      <p:sp>
        <p:nvSpPr>
          <p:cNvPr id="3" name="TextBox 2"/>
          <p:cNvSpPr txBox="1"/>
          <p:nvPr/>
        </p:nvSpPr>
        <p:spPr>
          <a:xfrm>
            <a:off x="731520" y="1234440"/>
            <a:ext cx="10789920" cy="2169825"/>
          </a:xfrm>
          <a:prstGeom prst="rect">
            <a:avLst/>
          </a:prstGeom>
          <a:noFill/>
        </p:spPr>
        <p:txBody>
          <a:bodyPr wrap="square">
            <a:spAutoFit/>
          </a:bodyPr>
          <a:lstStyle/>
          <a:p>
            <a:pPr>
              <a:spcAft>
                <a:spcPts val="1200"/>
              </a:spcAft>
              <a:defRPr sz="1900"/>
            </a:pPr>
            <a:r>
              <a:rPr dirty="0"/>
              <a:t>This citizen science project is part of an NNF Plant2Food research project (Grant #NNF22SA0081019).</a:t>
            </a:r>
          </a:p>
          <a:p>
            <a:pPr marL="342900" indent="-342900">
              <a:spcAft>
                <a:spcPts val="1200"/>
              </a:spcAft>
              <a:buFont typeface="Arial" panose="020B0604020202020204" pitchFamily="34" charset="0"/>
              <a:buChar char="•"/>
              <a:defRPr sz="1900"/>
            </a:pPr>
            <a:r>
              <a:rPr dirty="0"/>
              <a:t>Aarhus University: Department of Agroecology and Department of Food Science</a:t>
            </a:r>
          </a:p>
          <a:p>
            <a:pPr marL="342900" indent="-342900">
              <a:spcAft>
                <a:spcPts val="1200"/>
              </a:spcAft>
              <a:buFont typeface="Arial" panose="020B0604020202020204" pitchFamily="34" charset="0"/>
              <a:buChar char="•"/>
              <a:defRPr sz="1900"/>
            </a:pPr>
            <a:r>
              <a:rPr dirty="0"/>
              <a:t>Wageningen University and Research, Netherlands</a:t>
            </a:r>
          </a:p>
          <a:p>
            <a:pPr marL="342900" indent="-342900">
              <a:spcAft>
                <a:spcPts val="1200"/>
              </a:spcAft>
              <a:buFont typeface="Arial" panose="020B0604020202020204" pitchFamily="34" charset="0"/>
              <a:buChar char="•"/>
              <a:defRPr sz="1900"/>
            </a:pPr>
            <a:r>
              <a:rPr dirty="0"/>
              <a:t>Meyers, a Danish food enterprise</a:t>
            </a:r>
          </a:p>
          <a:p>
            <a:pPr>
              <a:spcAft>
                <a:spcPts val="1200"/>
              </a:spcAft>
              <a:defRPr sz="1900"/>
            </a:pPr>
            <a:r>
              <a:rPr dirty="0"/>
              <a:t>More information: projects.au.dk/plant2food/funded-projects/</a:t>
            </a:r>
            <a:r>
              <a:rPr dirty="0" err="1"/>
              <a:t>goodgrain</a:t>
            </a:r>
            <a:endParaRPr dirty="0"/>
          </a:p>
        </p:txBody>
      </p:sp>
      <p:sp>
        <p:nvSpPr>
          <p:cNvPr id="4" name="TextBox 3"/>
          <p:cNvSpPr txBox="1"/>
          <p:nvPr/>
        </p:nvSpPr>
        <p:spPr>
          <a:xfrm>
            <a:off x="594360" y="6473952"/>
            <a:ext cx="10972800" cy="228600"/>
          </a:xfrm>
          <a:prstGeom prst="rect">
            <a:avLst/>
          </a:prstGeom>
          <a:noFill/>
        </p:spPr>
        <p:txBody>
          <a:bodyPr wrap="none">
            <a:spAutoFit/>
          </a:bodyPr>
          <a:lstStyle/>
          <a:p>
            <a:pPr>
              <a:defRPr sz="900"/>
            </a:pPr>
            <a:r>
              <a:t>GoodGrain Home Baking Evaluation</a:t>
            </a:r>
          </a:p>
        </p:txBody>
      </p:sp>
      <p:pic>
        <p:nvPicPr>
          <p:cNvPr id="6" name="Picture 5">
            <a:extLst>
              <a:ext uri="{FF2B5EF4-FFF2-40B4-BE49-F238E27FC236}">
                <a16:creationId xmlns:a16="http://schemas.microsoft.com/office/drawing/2014/main" id="{F50E1FB6-3B1A-9CE0-8ADB-A7A625C20210}"/>
              </a:ext>
            </a:extLst>
          </p:cNvPr>
          <p:cNvPicPr>
            <a:picLocks noChangeAspect="1"/>
          </p:cNvPicPr>
          <p:nvPr/>
        </p:nvPicPr>
        <p:blipFill>
          <a:blip r:embed="rId2"/>
          <a:stretch>
            <a:fillRect/>
          </a:stretch>
        </p:blipFill>
        <p:spPr>
          <a:xfrm>
            <a:off x="3259640" y="4231977"/>
            <a:ext cx="3311781" cy="1380555"/>
          </a:xfrm>
          <a:prstGeom prst="rect">
            <a:avLst/>
          </a:prstGeom>
        </p:spPr>
      </p:pic>
      <p:pic>
        <p:nvPicPr>
          <p:cNvPr id="8" name="Picture 7">
            <a:extLst>
              <a:ext uri="{FF2B5EF4-FFF2-40B4-BE49-F238E27FC236}">
                <a16:creationId xmlns:a16="http://schemas.microsoft.com/office/drawing/2014/main" id="{D2B5BF54-6B09-E712-9F0F-EB29AE4F0AFC}"/>
              </a:ext>
            </a:extLst>
          </p:cNvPr>
          <p:cNvPicPr>
            <a:picLocks noChangeAspect="1"/>
          </p:cNvPicPr>
          <p:nvPr/>
        </p:nvPicPr>
        <p:blipFill>
          <a:blip r:embed="rId3"/>
          <a:stretch>
            <a:fillRect/>
          </a:stretch>
        </p:blipFill>
        <p:spPr>
          <a:xfrm>
            <a:off x="8249265" y="4598047"/>
            <a:ext cx="3660699" cy="819997"/>
          </a:xfrm>
          <a:prstGeom prst="rect">
            <a:avLst/>
          </a:prstGeom>
        </p:spPr>
      </p:pic>
      <p:pic>
        <p:nvPicPr>
          <p:cNvPr id="10" name="Picture 9">
            <a:extLst>
              <a:ext uri="{FF2B5EF4-FFF2-40B4-BE49-F238E27FC236}">
                <a16:creationId xmlns:a16="http://schemas.microsoft.com/office/drawing/2014/main" id="{458C58AB-41F2-9A15-E37C-889CC005006F}"/>
              </a:ext>
            </a:extLst>
          </p:cNvPr>
          <p:cNvPicPr>
            <a:picLocks noChangeAspect="1"/>
          </p:cNvPicPr>
          <p:nvPr/>
        </p:nvPicPr>
        <p:blipFill>
          <a:blip r:embed="rId4"/>
          <a:stretch>
            <a:fillRect/>
          </a:stretch>
        </p:blipFill>
        <p:spPr>
          <a:xfrm>
            <a:off x="205929" y="3487771"/>
            <a:ext cx="2868968" cy="2868968"/>
          </a:xfrm>
          <a:prstGeom prst="rect">
            <a:avLst/>
          </a:prstGeom>
        </p:spPr>
      </p:pic>
      <p:pic>
        <p:nvPicPr>
          <p:cNvPr id="12" name="Picture 11">
            <a:extLst>
              <a:ext uri="{FF2B5EF4-FFF2-40B4-BE49-F238E27FC236}">
                <a16:creationId xmlns:a16="http://schemas.microsoft.com/office/drawing/2014/main" id="{99FE654F-B31E-3319-FE9B-453B9E88B92A}"/>
              </a:ext>
            </a:extLst>
          </p:cNvPr>
          <p:cNvPicPr>
            <a:picLocks noChangeAspect="1"/>
          </p:cNvPicPr>
          <p:nvPr/>
        </p:nvPicPr>
        <p:blipFill>
          <a:blip r:embed="rId5"/>
          <a:stretch>
            <a:fillRect/>
          </a:stretch>
        </p:blipFill>
        <p:spPr>
          <a:xfrm>
            <a:off x="6756165" y="4418981"/>
            <a:ext cx="1204579" cy="1204579"/>
          </a:xfrm>
          <a:prstGeom prst="rect">
            <a:avLst/>
          </a:prstGeom>
        </p:spPr>
      </p:pic>
    </p:spTree>
    <p:extLst>
      <p:ext uri="{BB962C8B-B14F-4D97-AF65-F5344CB8AC3E}">
        <p14:creationId xmlns:p14="http://schemas.microsoft.com/office/powerpoint/2010/main" val="4191476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TotalTime>
  <Words>1436</Words>
  <Application>Microsoft Office PowerPoint</Application>
  <PresentationFormat>Widescreen</PresentationFormat>
  <Paragraphs>140</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Virginia Anne Nichols</dc:creator>
  <cp:keywords/>
  <dc:description>generated using python-pptx</dc:description>
  <cp:lastModifiedBy>Virginia Anne Nichols</cp:lastModifiedBy>
  <cp:revision>10</cp:revision>
  <dcterms:created xsi:type="dcterms:W3CDTF">2013-01-27T09:14:16Z</dcterms:created>
  <dcterms:modified xsi:type="dcterms:W3CDTF">2026-10-22T05:34:28Z</dcterms:modified>
  <cp:category/>
</cp:coreProperties>
</file>