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6" r:id="rId4"/>
    <p:sldId id="258" r:id="rId5"/>
    <p:sldId id="259" r:id="rId6"/>
    <p:sldId id="260" r:id="rId7"/>
    <p:sldId id="261" r:id="rId8"/>
    <p:sldId id="277" r:id="rId9"/>
    <p:sldId id="263" r:id="rId10"/>
    <p:sldId id="264" r:id="rId11"/>
    <p:sldId id="265" r:id="rId12"/>
    <p:sldId id="266" r:id="rId13"/>
    <p:sldId id="267" r:id="rId14"/>
    <p:sldId id="268" r:id="rId15"/>
    <p:sldId id="275" r:id="rId16"/>
    <p:sldId id="278" r:id="rId17"/>
    <p:sldId id="279" r:id="rId18"/>
    <p:sldId id="281" r:id="rId19"/>
    <p:sldId id="280" r:id="rId20"/>
    <p:sldId id="269" r:id="rId21"/>
    <p:sldId id="270" r:id="rId22"/>
    <p:sldId id="283" r:id="rId23"/>
    <p:sldId id="282" r:id="rId24"/>
    <p:sldId id="273" r:id="rId25"/>
    <p:sldId id="271" r:id="rId26"/>
    <p:sldId id="272" r:id="rId27"/>
    <p:sldId id="274" r:id="rId28"/>
    <p:sldId id="284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658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383947" y="718458"/>
            <a:ext cx="7393627" cy="1046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/>
            </a:pPr>
            <a:r>
              <a:rPr dirty="0"/>
              <a:t>GoodGrain Home Baking Evaluation</a:t>
            </a:r>
          </a:p>
          <a:p>
            <a:pPr algn="ctr">
              <a:defRPr sz="2400"/>
            </a:pPr>
            <a:r>
              <a:rPr dirty="0"/>
              <a:t>Informational </a:t>
            </a:r>
            <a:r>
              <a:rPr lang="en-US" dirty="0"/>
              <a:t>video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pic>
        <p:nvPicPr>
          <p:cNvPr id="6" name="Picture 5" descr="figure-1.png">
            <a:extLst>
              <a:ext uri="{FF2B5EF4-FFF2-40B4-BE49-F238E27FC236}">
                <a16:creationId xmlns:a16="http://schemas.microsoft.com/office/drawing/2014/main" id="{B813232E-3694-5842-2C17-AA9CFC711A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4690" t="53023" r="5903" b="22742"/>
          <a:stretch>
            <a:fillRect/>
          </a:stretch>
        </p:blipFill>
        <p:spPr>
          <a:xfrm>
            <a:off x="4114796" y="2215471"/>
            <a:ext cx="4125686" cy="411696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1234440"/>
            <a:ext cx="10477254" cy="23237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100"/>
            </a:pPr>
            <a:r>
              <a:rPr lang="en-US" dirty="0"/>
              <a:t>An overview of the GoodGrain project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100"/>
            </a:pPr>
            <a:r>
              <a:rPr lang="en-US" dirty="0"/>
              <a:t>M</a:t>
            </a:r>
            <a:r>
              <a:rPr dirty="0"/>
              <a:t>ore in-depth information about the new </a:t>
            </a:r>
            <a:r>
              <a:rPr lang="en-US" dirty="0"/>
              <a:t>perennial rye </a:t>
            </a:r>
            <a:r>
              <a:rPr dirty="0"/>
              <a:t>variety</a:t>
            </a:r>
            <a:endParaRPr lang="en-US" dirty="0"/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100"/>
            </a:pPr>
            <a:endParaRPr lang="da-DK" dirty="0"/>
          </a:p>
          <a:p>
            <a:pPr>
              <a:spcAft>
                <a:spcPts val="1200"/>
              </a:spcAft>
              <a:defRPr sz="2100"/>
            </a:pPr>
            <a:r>
              <a:rPr lang="da-DK" dirty="0"/>
              <a:t>The same information is </a:t>
            </a:r>
            <a:r>
              <a:rPr lang="da-DK" dirty="0" err="1"/>
              <a:t>also</a:t>
            </a:r>
            <a:r>
              <a:rPr lang="da-DK" dirty="0"/>
              <a:t> </a:t>
            </a:r>
            <a:r>
              <a:rPr lang="da-DK" dirty="0" err="1"/>
              <a:t>available</a:t>
            </a:r>
            <a:r>
              <a:rPr lang="da-DK" dirty="0"/>
              <a:t> in an </a:t>
            </a:r>
            <a:r>
              <a:rPr lang="da-DK" dirty="0" err="1"/>
              <a:t>informational</a:t>
            </a:r>
            <a:r>
              <a:rPr lang="da-DK" dirty="0"/>
              <a:t> </a:t>
            </a:r>
            <a:r>
              <a:rPr lang="da-DK" dirty="0" err="1"/>
              <a:t>sheet</a:t>
            </a:r>
            <a:r>
              <a:rPr lang="da-DK" dirty="0"/>
              <a:t> in English and Danish</a:t>
            </a:r>
            <a:endParaRPr lang="en-US" dirty="0"/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100"/>
            </a:pP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D5667C-D6EB-1BA4-AC70-DBF08B24E721}"/>
              </a:ext>
            </a:extLst>
          </p:cNvPr>
          <p:cNvSpPr txBox="1"/>
          <p:nvPr/>
        </p:nvSpPr>
        <p:spPr>
          <a:xfrm>
            <a:off x="594360" y="320040"/>
            <a:ext cx="4525341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 lang="en-US" dirty="0"/>
              <a:t>This presentation provides: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260C6-AF0F-88C5-B0BC-68F1C4129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60AB211-EFC4-7B87-FF7D-36BFEADB85A0}"/>
              </a:ext>
            </a:extLst>
          </p:cNvPr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pic>
        <p:nvPicPr>
          <p:cNvPr id="6" name="Picture 5" descr="figure-1.png">
            <a:extLst>
              <a:ext uri="{FF2B5EF4-FFF2-40B4-BE49-F238E27FC236}">
                <a16:creationId xmlns:a16="http://schemas.microsoft.com/office/drawing/2014/main" id="{8831E572-24E7-851B-E503-91E60AE91F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7963" y="482075"/>
            <a:ext cx="7376074" cy="5893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94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 dirty="0"/>
              <a:t>What happens next?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12157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/>
            </a:pPr>
            <a:r>
              <a:rPr b="1" dirty="0"/>
              <a:t>Watch th</a:t>
            </a:r>
            <a:r>
              <a:rPr lang="en-US" b="1" dirty="0"/>
              <a:t>is</a:t>
            </a:r>
            <a:r>
              <a:rPr b="1" dirty="0"/>
              <a:t> Informational Video (in English)</a:t>
            </a:r>
            <a:r>
              <a:rPr dirty="0"/>
              <a:t> and/or read the Informational Sheet in English or Danish.</a:t>
            </a:r>
          </a:p>
          <a:p>
            <a:pPr>
              <a:spcAft>
                <a:spcPts val="1200"/>
              </a:spcAft>
              <a:defRPr sz="2100"/>
            </a:pPr>
            <a:r>
              <a:rPr lang="en-US" dirty="0"/>
              <a:t>Afterwards, i</a:t>
            </a:r>
            <a:r>
              <a:rPr dirty="0"/>
              <a:t>f you </a:t>
            </a:r>
            <a:r>
              <a:rPr b="1" dirty="0"/>
              <a:t>decide you would like to participate in the research</a:t>
            </a:r>
            <a:r>
              <a:rPr dirty="0"/>
              <a:t>, complete the intake form.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291041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 lang="en-US" dirty="0"/>
              <a:t>Why GoodGrain?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275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rPr dirty="0"/>
              <a:t>Common bread crops such as wheat, oats, rye and barley are </a:t>
            </a:r>
            <a:r>
              <a:rPr b="1" dirty="0"/>
              <a:t>annual</a:t>
            </a:r>
            <a:r>
              <a:rPr lang="en-US" b="1" dirty="0"/>
              <a:t> grains</a:t>
            </a:r>
            <a:r>
              <a:rPr dirty="0"/>
              <a:t>: they are sown, produce one grain harvest, and must then be sown again.</a:t>
            </a:r>
            <a:endParaRPr lang="en-US" dirty="0"/>
          </a:p>
          <a:p>
            <a:pPr>
              <a:spcAft>
                <a:spcPts val="1200"/>
              </a:spcAft>
              <a:defRPr sz="1900"/>
            </a:pPr>
            <a:r>
              <a:rPr lang="da-DK" dirty="0"/>
              <a:t>An alternative </a:t>
            </a:r>
            <a:r>
              <a:rPr lang="da-DK" dirty="0" err="1"/>
              <a:t>would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a </a:t>
            </a:r>
            <a:r>
              <a:rPr lang="da-DK" b="1" dirty="0" err="1"/>
              <a:t>perennial</a:t>
            </a:r>
            <a:r>
              <a:rPr lang="da-DK" b="1" dirty="0"/>
              <a:t> </a:t>
            </a:r>
            <a:r>
              <a:rPr lang="da-DK" b="1" dirty="0" err="1"/>
              <a:t>grain</a:t>
            </a:r>
            <a:r>
              <a:rPr lang="da-DK" dirty="0"/>
              <a:t>, </a:t>
            </a:r>
            <a:r>
              <a:rPr lang="da-DK" dirty="0" err="1"/>
              <a:t>which</a:t>
            </a:r>
            <a:r>
              <a:rPr lang="da-DK" dirty="0"/>
              <a:t> </a:t>
            </a:r>
            <a:r>
              <a:rPr lang="da-DK" dirty="0" err="1"/>
              <a:t>would</a:t>
            </a:r>
            <a:r>
              <a:rPr lang="da-DK" dirty="0"/>
              <a:t> </a:t>
            </a:r>
            <a:r>
              <a:rPr lang="da-DK" dirty="0" err="1"/>
              <a:t>continue</a:t>
            </a:r>
            <a:r>
              <a:rPr lang="da-DK" dirty="0"/>
              <a:t> to live </a:t>
            </a:r>
            <a:r>
              <a:rPr lang="da-DK" dirty="0" err="1"/>
              <a:t>after</a:t>
            </a:r>
            <a:r>
              <a:rPr lang="da-DK" dirty="0"/>
              <a:t> it is harvested.</a:t>
            </a:r>
            <a:endParaRPr dirty="0"/>
          </a:p>
          <a:p>
            <a:pPr>
              <a:spcAft>
                <a:spcPts val="1200"/>
              </a:spcAft>
              <a:defRPr sz="1900"/>
            </a:pPr>
            <a:r>
              <a:rPr dirty="0"/>
              <a:t>A crop producing two or three grain harvests from one sowing could save farmers work and tractor driving.</a:t>
            </a:r>
          </a:p>
          <a:p>
            <a:pPr>
              <a:spcAft>
                <a:spcPts val="1200"/>
              </a:spcAft>
              <a:defRPr sz="1900"/>
            </a:pPr>
            <a:r>
              <a:rPr lang="en-US" dirty="0"/>
              <a:t>A crop that r</a:t>
            </a:r>
            <a:r>
              <a:rPr dirty="0"/>
              <a:t>emain</a:t>
            </a:r>
            <a:r>
              <a:rPr lang="en-US" dirty="0"/>
              <a:t>s</a:t>
            </a:r>
            <a:r>
              <a:rPr dirty="0"/>
              <a:t> in the field and develop</a:t>
            </a:r>
            <a:r>
              <a:rPr lang="en-US" dirty="0"/>
              <a:t>s</a:t>
            </a:r>
            <a:r>
              <a:rPr dirty="0"/>
              <a:t> more roots may also create better environmental outcomes.</a:t>
            </a:r>
          </a:p>
          <a:p>
            <a:pPr>
              <a:spcAft>
                <a:spcPts val="1200"/>
              </a:spcAft>
              <a:defRPr sz="1900"/>
            </a:pPr>
            <a:r>
              <a:rPr dirty="0"/>
              <a:t>A few perennial grain varieties have recently been developed, including a </a:t>
            </a:r>
            <a:r>
              <a:rPr b="1" dirty="0"/>
              <a:t>perennial rye </a:t>
            </a:r>
            <a:r>
              <a:rPr dirty="0"/>
              <a:t>that is being tested in Denmark.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Why GoodGrain?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27084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rPr dirty="0"/>
              <a:t>Field testing is evaluating how the new perennial rye grows in Denmark and how it affects the environment compared with annual rye.</a:t>
            </a:r>
          </a:p>
          <a:p>
            <a:pPr>
              <a:spcAft>
                <a:spcPts val="1200"/>
              </a:spcAft>
              <a:defRPr sz="2000"/>
            </a:pPr>
            <a:r>
              <a:rPr dirty="0"/>
              <a:t>GoodGrain builds on this </a:t>
            </a:r>
            <a:r>
              <a:rPr lang="en-US" dirty="0"/>
              <a:t>field testing </a:t>
            </a:r>
            <a:r>
              <a:rPr dirty="0"/>
              <a:t>by looking specifically at the new perennial rye's grain characteristics.</a:t>
            </a:r>
          </a:p>
          <a:p>
            <a:pPr>
              <a:spcAft>
                <a:spcPts val="1200"/>
              </a:spcAft>
              <a:defRPr sz="2000"/>
            </a:pPr>
            <a:r>
              <a:rPr dirty="0"/>
              <a:t>One important characteristic is baking quality.</a:t>
            </a:r>
            <a:endParaRPr lang="en-US" dirty="0"/>
          </a:p>
          <a:p>
            <a:pPr>
              <a:spcAft>
                <a:spcPts val="1200"/>
              </a:spcAft>
              <a:defRPr sz="2000"/>
            </a:pPr>
            <a:r>
              <a:rPr lang="da-DK" dirty="0" err="1"/>
              <a:t>Other</a:t>
            </a:r>
            <a:r>
              <a:rPr lang="da-DK" dirty="0"/>
              <a:t> </a:t>
            </a:r>
            <a:r>
              <a:rPr lang="da-DK" dirty="0" err="1"/>
              <a:t>aspects</a:t>
            </a:r>
            <a:r>
              <a:rPr lang="da-DK" dirty="0"/>
              <a:t> </a:t>
            </a:r>
            <a:r>
              <a:rPr lang="da-DK" dirty="0" err="1"/>
              <a:t>include</a:t>
            </a:r>
            <a:r>
              <a:rPr lang="da-DK" dirty="0"/>
              <a:t> the </a:t>
            </a:r>
            <a:r>
              <a:rPr lang="da-DK" dirty="0" err="1"/>
              <a:t>nutritional</a:t>
            </a:r>
            <a:r>
              <a:rPr lang="da-DK" dirty="0"/>
              <a:t> </a:t>
            </a:r>
            <a:r>
              <a:rPr lang="da-DK" dirty="0" err="1"/>
              <a:t>quality</a:t>
            </a:r>
            <a:r>
              <a:rPr lang="da-DK" dirty="0"/>
              <a:t> of the </a:t>
            </a:r>
            <a:r>
              <a:rPr lang="da-DK" dirty="0" err="1"/>
              <a:t>grain</a:t>
            </a:r>
            <a:r>
              <a:rPr lang="da-DK" dirty="0"/>
              <a:t>, and the </a:t>
            </a:r>
            <a:r>
              <a:rPr lang="da-DK" dirty="0" err="1"/>
              <a:t>prevalence</a:t>
            </a:r>
            <a:r>
              <a:rPr lang="da-DK" dirty="0"/>
              <a:t> of a common </a:t>
            </a:r>
            <a:r>
              <a:rPr lang="da-DK" dirty="0" err="1"/>
              <a:t>disease</a:t>
            </a:r>
            <a:r>
              <a:rPr lang="da-DK" dirty="0"/>
              <a:t>, </a:t>
            </a:r>
            <a:r>
              <a:rPr lang="da-DK" dirty="0" err="1"/>
              <a:t>ergot</a:t>
            </a:r>
            <a:r>
              <a:rPr lang="da-DK" dirty="0"/>
              <a:t>, </a:t>
            </a:r>
            <a:r>
              <a:rPr lang="da-DK" dirty="0" err="1"/>
              <a:t>which</a:t>
            </a:r>
            <a:r>
              <a:rPr lang="da-DK" dirty="0"/>
              <a:t>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found</a:t>
            </a:r>
            <a:r>
              <a:rPr lang="da-DK" dirty="0"/>
              <a:t> in harvested </a:t>
            </a:r>
            <a:r>
              <a:rPr lang="da-DK" dirty="0" err="1"/>
              <a:t>grain</a:t>
            </a:r>
            <a:r>
              <a:rPr lang="da-DK" dirty="0"/>
              <a:t>. 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What does participating involve?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rPr dirty="0"/>
              <a:t>You will receive </a:t>
            </a:r>
            <a:r>
              <a:rPr lang="en-US" dirty="0"/>
              <a:t>400 or 800</a:t>
            </a:r>
            <a:r>
              <a:rPr dirty="0"/>
              <a:t> g of rye flour from the new perennial variety.</a:t>
            </a:r>
          </a:p>
          <a:p>
            <a:pPr>
              <a:spcAft>
                <a:spcPts val="1200"/>
              </a:spcAft>
              <a:defRPr sz="2000"/>
            </a:pPr>
            <a:r>
              <a:rPr dirty="0"/>
              <a:t>You will purchase any additional ingredients needed for your baking.</a:t>
            </a:r>
          </a:p>
          <a:p>
            <a:pPr>
              <a:spcAft>
                <a:spcPts val="1200"/>
              </a:spcAft>
              <a:defRPr sz="2000"/>
            </a:pPr>
            <a:r>
              <a:rPr dirty="0"/>
              <a:t>You will take notes during baking and use them to complete a follow-up survey.</a:t>
            </a:r>
          </a:p>
          <a:p>
            <a:pPr>
              <a:spcAft>
                <a:spcPts val="1200"/>
              </a:spcAft>
              <a:defRPr sz="2000"/>
            </a:pPr>
            <a:r>
              <a:rPr dirty="0"/>
              <a:t>After completing the survey, you will receive a small thank-you gift.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45A0E-532B-187A-82E8-E144501C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A351185-1806-3660-B8F0-4FCD1D546330}"/>
              </a:ext>
            </a:extLst>
          </p:cNvPr>
          <p:cNvSpPr txBox="1"/>
          <p:nvPr/>
        </p:nvSpPr>
        <p:spPr>
          <a:xfrm>
            <a:off x="594360" y="320040"/>
            <a:ext cx="2716513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 lang="en-US" dirty="0"/>
              <a:t>Optional events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CAA353-A4ED-5BF4-C061-B20B0CC9AB5F}"/>
              </a:ext>
            </a:extLst>
          </p:cNvPr>
          <p:cNvSpPr txBox="1"/>
          <p:nvPr/>
        </p:nvSpPr>
        <p:spPr>
          <a:xfrm>
            <a:off x="731520" y="1234440"/>
            <a:ext cx="10789920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/>
            </a:pPr>
            <a:r>
              <a:rPr lang="en-US" dirty="0"/>
              <a:t>Summer 2027: Public event where you can see perennial rye growing in the field</a:t>
            </a:r>
          </a:p>
          <a:p>
            <a:pPr>
              <a:spcAft>
                <a:spcPts val="1200"/>
              </a:spcAft>
              <a:defRPr sz="2100"/>
            </a:pPr>
            <a:r>
              <a:rPr lang="en-US"/>
              <a:t>Fall 2027: A </a:t>
            </a:r>
            <a:r>
              <a:rPr lang="en-US" dirty="0"/>
              <a:t>public symposium to share information about perennial rye</a:t>
            </a:r>
          </a:p>
          <a:p>
            <a:pPr>
              <a:spcAft>
                <a:spcPts val="1200"/>
              </a:spcAft>
              <a:defRPr sz="2100"/>
            </a:pPr>
            <a:r>
              <a:rPr lang="en-US" dirty="0"/>
              <a:t>Both are free and open to the public!</a:t>
            </a:r>
          </a:p>
          <a:p>
            <a:pPr>
              <a:spcAft>
                <a:spcPts val="1200"/>
              </a:spcAft>
              <a:defRPr sz="2100"/>
            </a:pPr>
            <a:r>
              <a:rPr dirty="0"/>
              <a:t>Attendance at the GoodGrain field event and symposium is </a:t>
            </a:r>
            <a:r>
              <a:rPr b="1" i="1" dirty="0"/>
              <a:t>optional</a:t>
            </a:r>
            <a:r>
              <a:rPr dirty="0"/>
              <a:t> and is not required for participation in the Home Baking Evaluation.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CE7918-B1E7-58A8-C3B5-AE044EC2C291}"/>
              </a:ext>
            </a:extLst>
          </p:cNvPr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  <p:extLst>
      <p:ext uri="{BB962C8B-B14F-4D97-AF65-F5344CB8AC3E}">
        <p14:creationId xmlns:p14="http://schemas.microsoft.com/office/powerpoint/2010/main" val="1839058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Funding and project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rPr dirty="0"/>
              <a:t>This citizen science project is part of an NNF Plant2Food research project (Grant #NNF22SA0081019).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1900"/>
            </a:pPr>
            <a:r>
              <a:rPr dirty="0"/>
              <a:t>Aarhus University: Department of Agroecology and Department of Food Science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1900"/>
            </a:pPr>
            <a:r>
              <a:rPr dirty="0"/>
              <a:t>Wageningen University and Research, Netherlands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1900"/>
            </a:pPr>
            <a:r>
              <a:rPr dirty="0"/>
              <a:t>Meyers, a Danish food enterprise</a:t>
            </a:r>
          </a:p>
          <a:p>
            <a:pPr>
              <a:spcAft>
                <a:spcPts val="1200"/>
              </a:spcAft>
              <a:defRPr sz="1900"/>
            </a:pPr>
            <a:r>
              <a:rPr dirty="0"/>
              <a:t>More information: projects.au.dk/plant2food/funded-projects/</a:t>
            </a:r>
            <a:r>
              <a:rPr dirty="0" err="1"/>
              <a:t>goodgrain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0E1FB6-3B1A-9CE0-8ADB-A7A625C20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9640" y="4231977"/>
            <a:ext cx="3311781" cy="138055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B5BF54-6B09-E712-9F0F-EB29AE4F0A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9265" y="4598047"/>
            <a:ext cx="3660699" cy="8199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8C58AB-41F2-9A15-E37C-889CC00500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929" y="3487771"/>
            <a:ext cx="2868968" cy="286896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9FE654F-B31E-3319-FE9B-453B9E88B9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6165" y="4418981"/>
            <a:ext cx="1204579" cy="120457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Is it safe to eat?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201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/>
            </a:pPr>
            <a:r>
              <a:rPr dirty="0"/>
              <a:t>Yes.</a:t>
            </a:r>
          </a:p>
          <a:p>
            <a:pPr>
              <a:spcAft>
                <a:spcPts val="1200"/>
              </a:spcAft>
              <a:defRPr sz="2100"/>
            </a:pPr>
            <a:r>
              <a:rPr dirty="0"/>
              <a:t>The grain used to make the flour you will receive was tested at an independent laboratory to ensure it is safe for human consumption.</a:t>
            </a:r>
          </a:p>
          <a:p>
            <a:pPr>
              <a:spcAft>
                <a:spcPts val="1200"/>
              </a:spcAft>
              <a:defRPr sz="2100"/>
            </a:pPr>
            <a:r>
              <a:rPr dirty="0"/>
              <a:t>The laboratory results are available in the GoodGrain Lab Results PDF</a:t>
            </a:r>
            <a:r>
              <a:rPr lang="en-US" dirty="0"/>
              <a:t>, which you can access through the intake survey and/or the Informational Sheet website. 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Is the perennial rye genetically modified?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rPr dirty="0"/>
              <a:t>No.</a:t>
            </a:r>
          </a:p>
          <a:p>
            <a:pPr>
              <a:spcAft>
                <a:spcPts val="1200"/>
              </a:spcAft>
              <a:defRPr sz="2000"/>
            </a:pPr>
            <a:r>
              <a:rPr dirty="0"/>
              <a:t>This variety was developed using traditional breeding methods.</a:t>
            </a:r>
          </a:p>
          <a:p>
            <a:pPr>
              <a:spcAft>
                <a:spcPts val="1200"/>
              </a:spcAft>
              <a:defRPr sz="2000"/>
            </a:pPr>
            <a:r>
              <a:rPr dirty="0"/>
              <a:t>Plants were crossed by hand, followed by selection based on their physical characteristics.</a:t>
            </a:r>
          </a:p>
          <a:p>
            <a:pPr>
              <a:spcAft>
                <a:spcPts val="1200"/>
              </a:spcAft>
              <a:defRPr sz="2000"/>
            </a:pPr>
            <a:r>
              <a:rPr lang="en-US" dirty="0"/>
              <a:t>You can see a scientific publication </a:t>
            </a:r>
            <a:r>
              <a:rPr dirty="0"/>
              <a:t>from 1986 for more information</a:t>
            </a:r>
            <a:r>
              <a:rPr lang="en-US" dirty="0"/>
              <a:t>: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95DAE88-9238-64B0-F3AA-4D7C1A5A10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6912" y="3019544"/>
            <a:ext cx="8759356" cy="30312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Is this grain organic?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/>
            </a:pPr>
            <a:r>
              <a:t>No.</a:t>
            </a:r>
          </a:p>
          <a:p>
            <a:pPr>
              <a:spcAft>
                <a:spcPts val="1200"/>
              </a:spcAft>
              <a:defRPr sz="2100"/>
            </a:pPr>
            <a:r>
              <a:t>Aarhus University does not have organically certified land because of the costs and additional administrative complexity.</a:t>
            </a:r>
          </a:p>
          <a:p>
            <a:pPr>
              <a:spcAft>
                <a:spcPts val="1200"/>
              </a:spcAft>
              <a:defRPr sz="2100"/>
            </a:pPr>
            <a:r>
              <a:t>However, this grain was grown without the use of pesticides.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 I buy this flour?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/>
            </a:pPr>
            <a:r>
              <a:t>Flour from this perennial rye variety is not currently available commercially.</a:t>
            </a:r>
          </a:p>
          <a:p>
            <a:pPr>
              <a:spcAft>
                <a:spcPts val="1200"/>
              </a:spcAft>
              <a:defRPr sz="2100"/>
            </a:pPr>
            <a:r>
              <a:t>The project is laying the groundwork for a potential commercial release.</a:t>
            </a:r>
          </a:p>
          <a:p>
            <a:pPr>
              <a:spcAft>
                <a:spcPts val="1200"/>
              </a:spcAft>
              <a:defRPr sz="2100"/>
            </a:pPr>
            <a:r>
              <a:t>Your help with the home baking evaluation is appreciated!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2677464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 dirty="0"/>
              <a:t>For the curious: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89AA6AC-80CE-80A0-0293-1C0E8D2AAF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005" y="534234"/>
            <a:ext cx="9752962" cy="501116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9080F7B-792D-70DE-DDE2-BA19B62D04F2}"/>
              </a:ext>
            </a:extLst>
          </p:cNvPr>
          <p:cNvSpPr/>
          <p:nvPr/>
        </p:nvSpPr>
        <p:spPr>
          <a:xfrm>
            <a:off x="1288026" y="1543665"/>
            <a:ext cx="9665109" cy="413938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4472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E8225-5B71-C888-B848-064D210D1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77EBAFB-9BC6-3A35-9175-AA1040DBB9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005" y="534234"/>
            <a:ext cx="9752962" cy="501116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1820E1A-DCD9-C6BB-8407-8B47A9F07E0F}"/>
              </a:ext>
            </a:extLst>
          </p:cNvPr>
          <p:cNvSpPr/>
          <p:nvPr/>
        </p:nvSpPr>
        <p:spPr>
          <a:xfrm>
            <a:off x="3726426" y="1543665"/>
            <a:ext cx="7226709" cy="3234812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1227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80CC45-624D-5D70-5532-FDF98DE2C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372D9F4-973B-AA11-AC83-3685F25ACB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005" y="534234"/>
            <a:ext cx="9752962" cy="501116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D201734-7D7D-984E-CA50-586FF3B85B23}"/>
              </a:ext>
            </a:extLst>
          </p:cNvPr>
          <p:cNvSpPr/>
          <p:nvPr/>
        </p:nvSpPr>
        <p:spPr>
          <a:xfrm>
            <a:off x="6096000" y="1543665"/>
            <a:ext cx="4857135" cy="328397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2395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97B02-3C80-37CD-5394-4213A2E21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8AEB6AA-7278-A99E-DFF2-1B7798409F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005" y="534234"/>
            <a:ext cx="9752962" cy="501116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7DB19D9-8B98-2D32-9D29-2119C0349212}"/>
              </a:ext>
            </a:extLst>
          </p:cNvPr>
          <p:cNvSpPr/>
          <p:nvPr/>
        </p:nvSpPr>
        <p:spPr>
          <a:xfrm>
            <a:off x="8278761" y="1543665"/>
            <a:ext cx="2674374" cy="326430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4366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E8179-E6AF-C546-6336-880E94EA2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6E201B5-F816-4DD2-8AAA-8AD3BDC4F9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005" y="534234"/>
            <a:ext cx="9752962" cy="5011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96262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Why might perennial crops be useful?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rPr dirty="0"/>
              <a:t>It is not yet clear whether annual plants are inherently superior for food production or whether humans simply happened to domesticate them.</a:t>
            </a:r>
          </a:p>
          <a:p>
            <a:pPr>
              <a:spcAft>
                <a:spcPts val="1200"/>
              </a:spcAft>
              <a:defRPr sz="1800"/>
            </a:pPr>
            <a:r>
              <a:rPr dirty="0"/>
              <a:t>Having more perennials integrated into agricultural land would offer environmental benefits.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  <a:defRPr sz="1800"/>
            </a:pPr>
            <a:r>
              <a:rPr dirty="0"/>
              <a:t>Perennials can help put carbon into the soil.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  <a:defRPr sz="1800"/>
            </a:pPr>
            <a:r>
              <a:rPr dirty="0"/>
              <a:t>They provide soil cover year-round.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  <a:defRPr sz="1800"/>
            </a:pPr>
            <a:r>
              <a:rPr dirty="0"/>
              <a:t>They can use resources such as water and nitrogen more efficiently.</a:t>
            </a:r>
          </a:p>
          <a:p>
            <a:pPr>
              <a:spcAft>
                <a:spcPts val="1200"/>
              </a:spcAft>
              <a:defRPr sz="1800"/>
            </a:pPr>
            <a:r>
              <a:rPr dirty="0"/>
              <a:t>Creating perennial versions of staple crops, such as rye, is one way to integrate more perennials into agriculture.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2736903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 lang="en-US" dirty="0"/>
              <a:t>Perennial grains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3508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rPr lang="en-US" dirty="0"/>
              <a:t>There have been efforts to breed </a:t>
            </a:r>
            <a:r>
              <a:rPr lang="en-US" b="1" dirty="0"/>
              <a:t>perennial wheat </a:t>
            </a:r>
            <a:r>
              <a:rPr lang="en-US" dirty="0"/>
              <a:t>since the 1930s.</a:t>
            </a:r>
          </a:p>
          <a:p>
            <a:pPr>
              <a:spcAft>
                <a:spcPts val="1200"/>
              </a:spcAft>
              <a:defRPr sz="1900"/>
            </a:pPr>
            <a:r>
              <a:rPr lang="en-US" dirty="0"/>
              <a:t>There has been success in creating wheat plants that regrow after harvest.</a:t>
            </a:r>
          </a:p>
          <a:p>
            <a:pPr>
              <a:spcAft>
                <a:spcPts val="1200"/>
              </a:spcAft>
              <a:defRPr sz="1900"/>
            </a:pPr>
            <a:r>
              <a:rPr lang="en-US" dirty="0"/>
              <a:t>Multiple harvests is still difficult, and grain yields are low. </a:t>
            </a:r>
          </a:p>
          <a:p>
            <a:pPr>
              <a:spcAft>
                <a:spcPts val="1200"/>
              </a:spcAft>
              <a:defRPr sz="1900"/>
            </a:pPr>
            <a:endParaRPr lang="en-US" dirty="0"/>
          </a:p>
          <a:p>
            <a:pPr>
              <a:spcAft>
                <a:spcPts val="1200"/>
              </a:spcAft>
              <a:defRPr sz="1900"/>
            </a:pPr>
            <a:r>
              <a:rPr lang="en-US" b="1" dirty="0"/>
              <a:t>Intermediate wheatgrass</a:t>
            </a:r>
            <a:r>
              <a:rPr lang="en-US" dirty="0"/>
              <a:t> has been used as a forage, and is being bred for grain production.</a:t>
            </a:r>
          </a:p>
          <a:p>
            <a:pPr>
              <a:spcAft>
                <a:spcPts val="1200"/>
              </a:spcAft>
              <a:defRPr sz="1900"/>
            </a:pPr>
            <a:r>
              <a:rPr lang="en-US" dirty="0"/>
              <a:t>The grain has been registered with the name Kernza®. </a:t>
            </a:r>
          </a:p>
          <a:p>
            <a:pPr>
              <a:spcAft>
                <a:spcPts val="1200"/>
              </a:spcAft>
              <a:defRPr sz="1900"/>
            </a:pPr>
            <a:r>
              <a:rPr lang="en-US" dirty="0"/>
              <a:t>As of 2026, Kernza® is not approved for human consumption in the European Union. </a:t>
            </a:r>
          </a:p>
          <a:p>
            <a:pPr>
              <a:spcAft>
                <a:spcPts val="1200"/>
              </a:spcAft>
              <a:defRPr sz="1900"/>
            </a:pPr>
            <a:r>
              <a:rPr lang="en-US" dirty="0"/>
              <a:t>Grain yields are 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6898D-4F30-88F6-EDC5-42333B3E9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28F489-47C4-07FC-5954-A209F0A60B89}"/>
              </a:ext>
            </a:extLst>
          </p:cNvPr>
          <p:cNvSpPr txBox="1"/>
          <p:nvPr/>
        </p:nvSpPr>
        <p:spPr>
          <a:xfrm>
            <a:off x="594360" y="320040"/>
            <a:ext cx="5262466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rPr lang="en-US" dirty="0"/>
              <a:t>The history of this perennial rye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62D64E-CFA6-9879-7CF7-A409483DC921}"/>
              </a:ext>
            </a:extLst>
          </p:cNvPr>
          <p:cNvSpPr txBox="1"/>
          <p:nvPr/>
        </p:nvSpPr>
        <p:spPr>
          <a:xfrm>
            <a:off x="731520" y="1234440"/>
            <a:ext cx="1078992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rPr lang="en-US" dirty="0"/>
              <a:t>At the University of Hohenheim in Germany, </a:t>
            </a:r>
            <a:r>
              <a:rPr lang="en-US" b="1" dirty="0"/>
              <a:t>Dr. Reimann-Philips </a:t>
            </a:r>
            <a:r>
              <a:rPr lang="en-US" dirty="0"/>
              <a:t>and his team crossed annual rye with an old perennial rye ancestor in the 1960s.</a:t>
            </a:r>
          </a:p>
          <a:p>
            <a:pPr>
              <a:spcAft>
                <a:spcPts val="1200"/>
              </a:spcAft>
              <a:defRPr sz="1900"/>
            </a:pPr>
            <a:r>
              <a:rPr lang="en-US" dirty="0"/>
              <a:t>They tested the resulting plants and made further selections.</a:t>
            </a:r>
          </a:p>
          <a:p>
            <a:pPr>
              <a:spcAft>
                <a:spcPts val="1200"/>
              </a:spcAft>
              <a:defRPr sz="1900"/>
            </a:pPr>
            <a:r>
              <a:rPr lang="en-US" dirty="0"/>
              <a:t>The resulting crop was perennial and, in the 1990s, was submitted for consideration as a variety in Germany.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1BC47B-01B8-B108-78AF-F3F9BBE7EAB3}"/>
              </a:ext>
            </a:extLst>
          </p:cNvPr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  <p:extLst>
      <p:ext uri="{BB962C8B-B14F-4D97-AF65-F5344CB8AC3E}">
        <p14:creationId xmlns:p14="http://schemas.microsoft.com/office/powerpoint/2010/main" val="6494567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217A2-DFF0-F91F-EE1C-7DD6DA50E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2EE090C-96DA-D2BD-1855-5FC6AD7EA196}"/>
              </a:ext>
            </a:extLst>
          </p:cNvPr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ACBA8D-C84F-6610-F5E3-68E47F58C1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8631" y="874038"/>
            <a:ext cx="8341090" cy="4333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2121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How long will the crop produce grain?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/>
            </a:pPr>
            <a:r>
              <a:t>This has not yet been tested extensively.</a:t>
            </a:r>
          </a:p>
          <a:p>
            <a:pPr>
              <a:spcAft>
                <a:spcPts val="1200"/>
              </a:spcAft>
              <a:defRPr sz="2100"/>
            </a:pPr>
            <a:r>
              <a:t>The perennial rye appears to reliably produce grain for at least two years.</a:t>
            </a:r>
          </a:p>
          <a:p>
            <a:pPr>
              <a:spcAft>
                <a:spcPts val="1200"/>
              </a:spcAft>
              <a:defRPr sz="2100"/>
            </a:pPr>
            <a:r>
              <a:t>After that, weeds and diseases may become problems.</a:t>
            </a:r>
          </a:p>
          <a:p>
            <a:pPr>
              <a:spcAft>
                <a:spcPts val="1200"/>
              </a:spcAft>
              <a:defRPr sz="2100"/>
            </a:pPr>
            <a:r>
              <a:t>More research is needed to determine the optimal way to manage the crop.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What happened to the crop?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The German government rejected the application, and the crop was never released as a variety.</a:t>
            </a:r>
          </a:p>
          <a:p>
            <a:pPr>
              <a:spcAft>
                <a:spcPts val="1200"/>
              </a:spcAft>
              <a:defRPr sz="1900"/>
            </a:pPr>
            <a:r>
              <a:t>The breeders maintained some plots as a passion project.</a:t>
            </a:r>
          </a:p>
          <a:p>
            <a:pPr>
              <a:spcAft>
                <a:spcPts val="1200"/>
              </a:spcAft>
              <a:defRPr sz="1900"/>
            </a:pPr>
            <a:r>
              <a:t>Some material was later released as a wildlife forage crop.</a:t>
            </a:r>
          </a:p>
          <a:p>
            <a:pPr>
              <a:spcAft>
                <a:spcPts val="1200"/>
              </a:spcAft>
              <a:defRPr sz="1900"/>
            </a:pPr>
            <a:r>
              <a:t>The perennial rye received little attention for about thirty years.</a:t>
            </a:r>
          </a:p>
          <a:p>
            <a:pPr>
              <a:spcAft>
                <a:spcPts val="1200"/>
              </a:spcAft>
              <a:defRPr sz="1900"/>
            </a:pPr>
            <a:r>
              <a:t>In 2023, Dr. Thomas Miedaner shared seeds with researchers at Aarhus University.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Why are we interested now?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The researchers at Aarhus University think perennial rye has a lot of potential in Denmark.</a:t>
            </a:r>
          </a:p>
          <a:p>
            <a:pPr>
              <a:spcAft>
                <a:spcPts val="1200"/>
              </a:spcAft>
              <a:defRPr sz="1900"/>
            </a:pPr>
            <a:r>
              <a:t>In 2025, the perennial rye was tested side-by-side with a high-yielding annual rye.</a:t>
            </a:r>
          </a:p>
          <a:p>
            <a:pPr>
              <a:spcAft>
                <a:spcPts val="1200"/>
              </a:spcAft>
              <a:defRPr sz="1900"/>
            </a:pPr>
            <a:r>
              <a:t>It produced about half the grain yield of the modern annual rye.</a:t>
            </a:r>
          </a:p>
          <a:p>
            <a:pPr>
              <a:spcAft>
                <a:spcPts val="1200"/>
              </a:spcAft>
              <a:defRPr sz="1900"/>
            </a:pPr>
            <a:r>
              <a:t>The result was especially promising given that the perennial rye was crossed with varieties from the 1960s.</a:t>
            </a:r>
          </a:p>
          <a:p>
            <a:pPr>
              <a:spcAft>
                <a:spcPts val="1200"/>
              </a:spcAft>
              <a:defRPr sz="1900"/>
            </a:pPr>
            <a:r>
              <a:t>GoodGrain is part of the effort to develop and understand this variety.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Thank you!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12157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/>
            </a:pPr>
            <a:r>
              <a:rPr dirty="0"/>
              <a:t>Thank you for considering participation in the GoodGrain Home Baking Evaluation.</a:t>
            </a:r>
          </a:p>
          <a:p>
            <a:pPr>
              <a:spcAft>
                <a:spcPts val="1200"/>
              </a:spcAft>
              <a:defRPr sz="2100"/>
            </a:pPr>
            <a:r>
              <a:rPr dirty="0"/>
              <a:t>Your baking experience will help us understand how this perennial rye performs in home kitchens and how people feel about eating a perennial grain.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55048-EE4E-CE47-C6FB-36903CC07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C5C0D15-96B2-96FC-117B-8059D410F680}"/>
              </a:ext>
            </a:extLst>
          </p:cNvPr>
          <p:cNvSpPr txBox="1"/>
          <p:nvPr/>
        </p:nvSpPr>
        <p:spPr>
          <a:xfrm>
            <a:off x="59436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GoodGrain Home Baking Evaluation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C053283-D9FD-4551-92AD-59AA734D01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594" y="0"/>
            <a:ext cx="858681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68043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1220</Words>
  <Application>Microsoft Office PowerPoint</Application>
  <PresentationFormat>Widescreen</PresentationFormat>
  <Paragraphs>118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Virginia Anne Nichols</dc:creator>
  <cp:keywords/>
  <dc:description>generated using python-pptx</dc:description>
  <cp:lastModifiedBy>Virginia Anne Nichols</cp:lastModifiedBy>
  <cp:revision>7</cp:revision>
  <dcterms:created xsi:type="dcterms:W3CDTF">2013-01-27T09:14:16Z</dcterms:created>
  <dcterms:modified xsi:type="dcterms:W3CDTF">2026-10-18T15:14:46Z</dcterms:modified>
  <cp:category/>
</cp:coreProperties>
</file>