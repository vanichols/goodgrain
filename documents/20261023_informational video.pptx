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0" r:id="rId4"/>
    <p:sldId id="276" r:id="rId5"/>
    <p:sldId id="287" r:id="rId6"/>
    <p:sldId id="259" r:id="rId7"/>
    <p:sldId id="288" r:id="rId8"/>
    <p:sldId id="292" r:id="rId9"/>
    <p:sldId id="260" r:id="rId10"/>
    <p:sldId id="290" r:id="rId11"/>
    <p:sldId id="263" r:id="rId12"/>
    <p:sldId id="261" r:id="rId13"/>
    <p:sldId id="296" r:id="rId14"/>
    <p:sldId id="294" r:id="rId15"/>
    <p:sldId id="295" r:id="rId16"/>
    <p:sldId id="285" r:id="rId17"/>
    <p:sldId id="289" r:id="rId18"/>
    <p:sldId id="286" r:id="rId19"/>
    <p:sldId id="297" r:id="rId20"/>
    <p:sldId id="277" r:id="rId21"/>
    <p:sldId id="298" r:id="rId22"/>
    <p:sldId id="264" r:id="rId23"/>
    <p:sldId id="265" r:id="rId24"/>
    <p:sldId id="266" r:id="rId25"/>
    <p:sldId id="267" r:id="rId26"/>
    <p:sldId id="299" r:id="rId27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EE0"/>
    <a:srgbClr val="255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3947" y="718458"/>
            <a:ext cx="7393627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/>
              <a:t>GoodGrain Home Baking Evaluation</a:t>
            </a:r>
          </a:p>
          <a:p>
            <a:pPr algn="ctr">
              <a:defRPr sz="2400"/>
            </a:pPr>
            <a:r>
              <a:rPr dirty="0"/>
              <a:t>Informational </a:t>
            </a:r>
            <a:r>
              <a:rPr lang="en-US" dirty="0"/>
              <a:t>video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 descr="figure-1.png">
            <a:extLst>
              <a:ext uri="{FF2B5EF4-FFF2-40B4-BE49-F238E27FC236}">
                <a16:creationId xmlns:a16="http://schemas.microsoft.com/office/drawing/2014/main" id="{B813232E-3694-5842-2C17-AA9CFC711A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114796" y="2215471"/>
            <a:ext cx="4125686" cy="4116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234440"/>
            <a:ext cx="1047725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dirty="0"/>
              <a:t>Informational video (this one)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i="1" dirty="0"/>
              <a:t>For the curious video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endParaRPr lang="da-DK" sz="3200" dirty="0"/>
          </a:p>
          <a:p>
            <a:pPr>
              <a:spcAft>
                <a:spcPts val="1200"/>
              </a:spcAft>
              <a:defRPr sz="2100"/>
            </a:pPr>
            <a:r>
              <a:rPr lang="da-DK" sz="3200" dirty="0"/>
              <a:t>The same information is </a:t>
            </a:r>
            <a:r>
              <a:rPr lang="da-DK" sz="3200" dirty="0" err="1"/>
              <a:t>also</a:t>
            </a:r>
            <a:r>
              <a:rPr lang="da-DK" sz="3200" dirty="0"/>
              <a:t> </a:t>
            </a:r>
            <a:r>
              <a:rPr lang="da-DK" sz="3200" dirty="0" err="1"/>
              <a:t>available</a:t>
            </a:r>
            <a:r>
              <a:rPr lang="da-DK" sz="3200" dirty="0"/>
              <a:t> in an </a:t>
            </a:r>
            <a:r>
              <a:rPr lang="da-DK" sz="3200" b="1" dirty="0" err="1"/>
              <a:t>Informational</a:t>
            </a:r>
            <a:r>
              <a:rPr lang="da-DK" sz="3200" b="1" dirty="0"/>
              <a:t> </a:t>
            </a:r>
            <a:r>
              <a:rPr lang="da-DK" sz="3200" b="1" dirty="0" err="1"/>
              <a:t>Sheet</a:t>
            </a:r>
            <a:endParaRPr lang="en-US" sz="32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D5667C-D6EB-1BA4-AC70-DBF08B24E721}"/>
              </a:ext>
            </a:extLst>
          </p:cNvPr>
          <p:cNvSpPr txBox="1"/>
          <p:nvPr/>
        </p:nvSpPr>
        <p:spPr>
          <a:xfrm>
            <a:off x="594360" y="320040"/>
            <a:ext cx="560018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Two videos in this series</a:t>
            </a:r>
            <a:endParaRPr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BD65-2DF3-4698-CEDB-98DEE6C0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EB6C10-D2BF-C8C4-C4D1-7DC64B05BF8C}"/>
              </a:ext>
            </a:extLst>
          </p:cNvPr>
          <p:cNvSpPr txBox="1"/>
          <p:nvPr/>
        </p:nvSpPr>
        <p:spPr>
          <a:xfrm>
            <a:off x="731520" y="1234440"/>
            <a:ext cx="10477254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dirty="0"/>
              <a:t>An overview of the GoodGrain project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dirty="0"/>
              <a:t>What is expected of you as a citizen scientist in the GoodGrain Home Baking Evaluation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dirty="0"/>
              <a:t>Answers to some common questions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endParaRPr lang="en-US" sz="32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da-DK" sz="3200" dirty="0"/>
              <a:t>The same information is </a:t>
            </a:r>
            <a:r>
              <a:rPr lang="da-DK" sz="3200" dirty="0" err="1"/>
              <a:t>also</a:t>
            </a:r>
            <a:r>
              <a:rPr lang="da-DK" sz="3200" dirty="0"/>
              <a:t> </a:t>
            </a:r>
            <a:r>
              <a:rPr lang="da-DK" sz="3200" dirty="0" err="1"/>
              <a:t>available</a:t>
            </a:r>
            <a:r>
              <a:rPr lang="da-DK" sz="3200" dirty="0"/>
              <a:t> in an </a:t>
            </a:r>
            <a:r>
              <a:rPr lang="da-DK" sz="3200" b="1" dirty="0" err="1"/>
              <a:t>Informational</a:t>
            </a:r>
            <a:r>
              <a:rPr lang="da-DK" sz="3200" b="1" dirty="0"/>
              <a:t> </a:t>
            </a:r>
            <a:r>
              <a:rPr lang="da-DK" sz="3200" b="1" dirty="0" err="1"/>
              <a:t>Sheet</a:t>
            </a:r>
            <a:endParaRPr lang="en-US" sz="32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endParaRPr lang="en-US" sz="32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endParaRPr lang="da-DK" sz="32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EB258-5553-57F7-43EA-1DFA5D320075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B0BEF-5941-B47C-417C-4E37EF2A506C}"/>
              </a:ext>
            </a:extLst>
          </p:cNvPr>
          <p:cNvSpPr txBox="1"/>
          <p:nvPr/>
        </p:nvSpPr>
        <p:spPr>
          <a:xfrm>
            <a:off x="594360" y="320040"/>
            <a:ext cx="464082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This video provides:</a:t>
            </a:r>
            <a:endParaRPr sz="4200" dirty="0"/>
          </a:p>
        </p:txBody>
      </p:sp>
    </p:spTree>
    <p:extLst>
      <p:ext uri="{BB962C8B-B14F-4D97-AF65-F5344CB8AC3E}">
        <p14:creationId xmlns:p14="http://schemas.microsoft.com/office/powerpoint/2010/main" val="269611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60C6-AF0F-88C5-B0BC-68F1C412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0AB211-EFC4-7B87-FF7D-36BFEADB85A0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 descr="figure-1.png">
            <a:extLst>
              <a:ext uri="{FF2B5EF4-FFF2-40B4-BE49-F238E27FC236}">
                <a16:creationId xmlns:a16="http://schemas.microsoft.com/office/drawing/2014/main" id="{8831E572-24E7-851B-E503-91E60AE91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63" y="482075"/>
            <a:ext cx="7376074" cy="58938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86BABB-FFF4-9038-D105-D0BB6AE8BC5B}"/>
              </a:ext>
            </a:extLst>
          </p:cNvPr>
          <p:cNvSpPr txBox="1"/>
          <p:nvPr/>
        </p:nvSpPr>
        <p:spPr>
          <a:xfrm>
            <a:off x="5136865" y="953729"/>
            <a:ext cx="1558904" cy="923330"/>
          </a:xfrm>
          <a:prstGeom prst="rect">
            <a:avLst/>
          </a:prstGeom>
          <a:solidFill>
            <a:srgbClr val="E6EEE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55C28"/>
                </a:solidFill>
              </a:rPr>
              <a:t>Watch Informational Video</a:t>
            </a:r>
          </a:p>
        </p:txBody>
      </p:sp>
    </p:spTree>
    <p:extLst>
      <p:ext uri="{BB962C8B-B14F-4D97-AF65-F5344CB8AC3E}">
        <p14:creationId xmlns:p14="http://schemas.microsoft.com/office/powerpoint/2010/main" val="773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7C41-9DB8-59A5-81F3-850C1465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6A7BE-FE0D-6A1C-41EF-4FDE13A2584C}"/>
              </a:ext>
            </a:extLst>
          </p:cNvPr>
          <p:cNvSpPr txBox="1"/>
          <p:nvPr/>
        </p:nvSpPr>
        <p:spPr>
          <a:xfrm>
            <a:off x="2110001" y="718458"/>
            <a:ext cx="794153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en-US" dirty="0"/>
              <a:t>An Overview of the GoodGrain Project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9C2A4-8C8B-9958-1ACD-797DA7C4F2F6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5" name="Picture 4" descr="figure-1.png">
            <a:extLst>
              <a:ext uri="{FF2B5EF4-FFF2-40B4-BE49-F238E27FC236}">
                <a16:creationId xmlns:a16="http://schemas.microsoft.com/office/drawing/2014/main" id="{9F5C18AC-1D74-F76C-CA2E-AF59CB973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14507" y="1706652"/>
            <a:ext cx="2962986" cy="295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8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069619-D8BC-1238-64D6-21B2F335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01"/>
          <a:stretch>
            <a:fillRect/>
          </a:stretch>
        </p:blipFill>
        <p:spPr>
          <a:xfrm>
            <a:off x="1523990" y="1319974"/>
            <a:ext cx="9144019" cy="20033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80A237-C16D-924C-1875-4E469CAF362A}"/>
              </a:ext>
            </a:extLst>
          </p:cNvPr>
          <p:cNvSpPr txBox="1"/>
          <p:nvPr/>
        </p:nvSpPr>
        <p:spPr>
          <a:xfrm>
            <a:off x="678425" y="1148566"/>
            <a:ext cx="294394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/>
              <a:t>Annual grains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DA728-C54F-F9B3-B556-59D42BBE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30CD3-9C33-A459-04B2-F96FBF8E48BA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D84F7-4A65-B0DA-139A-031EE3971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602" b="37825"/>
          <a:stretch>
            <a:fillRect/>
          </a:stretch>
        </p:blipFill>
        <p:spPr>
          <a:xfrm>
            <a:off x="1523990" y="4340943"/>
            <a:ext cx="9144019" cy="17648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854026-5CF0-E34C-BC1D-C078DFF7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01"/>
          <a:stretch>
            <a:fillRect/>
          </a:stretch>
        </p:blipFill>
        <p:spPr>
          <a:xfrm>
            <a:off x="1523990" y="1319974"/>
            <a:ext cx="9144019" cy="20033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3CDD29-C567-69B4-B1F7-714DDE30B4F3}"/>
              </a:ext>
            </a:extLst>
          </p:cNvPr>
          <p:cNvSpPr txBox="1"/>
          <p:nvPr/>
        </p:nvSpPr>
        <p:spPr>
          <a:xfrm>
            <a:off x="678425" y="1148566"/>
            <a:ext cx="294394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/>
              <a:t>Annual grains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A43E8-2CD8-CCAD-0834-20219C1BC2D5}"/>
              </a:ext>
            </a:extLst>
          </p:cNvPr>
          <p:cNvSpPr txBox="1"/>
          <p:nvPr/>
        </p:nvSpPr>
        <p:spPr>
          <a:xfrm>
            <a:off x="678425" y="3890578"/>
            <a:ext cx="341798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/>
              <a:t>Perennial grains</a:t>
            </a:r>
          </a:p>
        </p:txBody>
      </p:sp>
    </p:spTree>
    <p:extLst>
      <p:ext uri="{BB962C8B-B14F-4D97-AF65-F5344CB8AC3E}">
        <p14:creationId xmlns:p14="http://schemas.microsoft.com/office/powerpoint/2010/main" val="1847563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F09FC-8965-EEEE-EE8C-857D9217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924FB4-082D-E2C9-846B-333E3412626F}"/>
              </a:ext>
            </a:extLst>
          </p:cNvPr>
          <p:cNvSpPr txBox="1"/>
          <p:nvPr/>
        </p:nvSpPr>
        <p:spPr>
          <a:xfrm>
            <a:off x="731520" y="1234440"/>
            <a:ext cx="10477254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dirty="0"/>
              <a:t>Perennial wheat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3200" dirty="0"/>
              <a:t>Intermediate wheatgrass (Kernza®)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da-DK" sz="3200" b="1" dirty="0" err="1"/>
              <a:t>Perennial</a:t>
            </a:r>
            <a:r>
              <a:rPr lang="da-DK" sz="3200" b="1" dirty="0"/>
              <a:t> </a:t>
            </a:r>
            <a:r>
              <a:rPr lang="da-DK" sz="3200" b="1" dirty="0" err="1"/>
              <a:t>rye</a:t>
            </a:r>
            <a:endParaRPr lang="da-DK" sz="32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da-DK" sz="3200" i="1" dirty="0" err="1"/>
              <a:t>Perennial</a:t>
            </a:r>
            <a:r>
              <a:rPr lang="da-DK" sz="3200" i="1" dirty="0"/>
              <a:t> </a:t>
            </a:r>
            <a:r>
              <a:rPr lang="da-DK" sz="3200" i="1" dirty="0" err="1"/>
              <a:t>rice</a:t>
            </a:r>
            <a:endParaRPr sz="32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F9836-CEA2-8293-5DA3-B56708DF6FFB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0B2EC-128B-760A-E6FE-42F8FD5A2B87}"/>
              </a:ext>
            </a:extLst>
          </p:cNvPr>
          <p:cNvSpPr txBox="1"/>
          <p:nvPr/>
        </p:nvSpPr>
        <p:spPr>
          <a:xfrm>
            <a:off x="594360" y="320040"/>
            <a:ext cx="390594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Perennial grains</a:t>
            </a:r>
            <a:endParaRPr sz="4200" dirty="0"/>
          </a:p>
        </p:txBody>
      </p:sp>
    </p:spTree>
    <p:extLst>
      <p:ext uri="{BB962C8B-B14F-4D97-AF65-F5344CB8AC3E}">
        <p14:creationId xmlns:p14="http://schemas.microsoft.com/office/powerpoint/2010/main" val="157192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8BF3E6-26C5-0001-83B1-BEF939DDDC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9" t="34396" r="55721"/>
          <a:stretch>
            <a:fillRect/>
          </a:stretch>
        </p:blipFill>
        <p:spPr>
          <a:xfrm>
            <a:off x="2155372" y="2405605"/>
            <a:ext cx="3341914" cy="44417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FE159F-CC97-6BC3-31B7-30C2A8BCC271}"/>
              </a:ext>
            </a:extLst>
          </p:cNvPr>
          <p:cNvSpPr txBox="1"/>
          <p:nvPr/>
        </p:nvSpPr>
        <p:spPr>
          <a:xfrm>
            <a:off x="2930639" y="2806018"/>
            <a:ext cx="8649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Grain </a:t>
            </a:r>
          </a:p>
          <a:p>
            <a:pPr algn="ctr"/>
            <a:r>
              <a:rPr lang="en-US" sz="2200" dirty="0"/>
              <a:t>yields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AE5F2-3275-C910-9D24-449AE9C88147}"/>
              </a:ext>
            </a:extLst>
          </p:cNvPr>
          <p:cNvSpPr txBox="1"/>
          <p:nvPr/>
        </p:nvSpPr>
        <p:spPr>
          <a:xfrm>
            <a:off x="2779347" y="3608029"/>
            <a:ext cx="8999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Straw </a:t>
            </a:r>
          </a:p>
          <a:p>
            <a:pPr algn="ctr"/>
            <a:r>
              <a:rPr lang="en-US" sz="2200" dirty="0"/>
              <a:t>yields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13C8E4-EA10-B84F-E610-0E3A7623AFBF}"/>
              </a:ext>
            </a:extLst>
          </p:cNvPr>
          <p:cNvSpPr txBox="1"/>
          <p:nvPr/>
        </p:nvSpPr>
        <p:spPr>
          <a:xfrm>
            <a:off x="2423416" y="4614981"/>
            <a:ext cx="11352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Nitrate </a:t>
            </a:r>
          </a:p>
          <a:p>
            <a:pPr algn="ctr"/>
            <a:r>
              <a:rPr lang="en-US" sz="2200" dirty="0"/>
              <a:t>leaching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D50E-F711-FFB3-4A96-CA217E57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5EE7C5-CC00-5811-3A0D-51A433FCFDB1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B5EB2-8979-3208-2798-3676B848F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575" y="10661"/>
            <a:ext cx="8180849" cy="68366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8A1D0B-BC36-7B84-1322-FCB2D32B9B0D}"/>
              </a:ext>
            </a:extLst>
          </p:cNvPr>
          <p:cNvSpPr txBox="1"/>
          <p:nvPr/>
        </p:nvSpPr>
        <p:spPr>
          <a:xfrm>
            <a:off x="2930639" y="2806018"/>
            <a:ext cx="8649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Grain </a:t>
            </a:r>
          </a:p>
          <a:p>
            <a:pPr algn="ctr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yields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6548AF-1F04-9D53-C3A4-F9A473D129E5}"/>
              </a:ext>
            </a:extLst>
          </p:cNvPr>
          <p:cNvSpPr txBox="1"/>
          <p:nvPr/>
        </p:nvSpPr>
        <p:spPr>
          <a:xfrm>
            <a:off x="2779347" y="3608029"/>
            <a:ext cx="8999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Straw </a:t>
            </a:r>
          </a:p>
          <a:p>
            <a:pPr algn="ctr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yields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89A303-4E68-FB50-5260-109E3009E3F1}"/>
              </a:ext>
            </a:extLst>
          </p:cNvPr>
          <p:cNvSpPr txBox="1"/>
          <p:nvPr/>
        </p:nvSpPr>
        <p:spPr>
          <a:xfrm>
            <a:off x="2423416" y="4614981"/>
            <a:ext cx="11352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Nitrate </a:t>
            </a:r>
          </a:p>
          <a:p>
            <a:pPr algn="ctr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leaching</a:t>
            </a:r>
          </a:p>
        </p:txBody>
      </p:sp>
    </p:spTree>
    <p:extLst>
      <p:ext uri="{BB962C8B-B14F-4D97-AF65-F5344CB8AC3E}">
        <p14:creationId xmlns:p14="http://schemas.microsoft.com/office/powerpoint/2010/main" val="356472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65560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4200" dirty="0"/>
              <a:t>Funding and project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/>
              <a:t>This citizen science project is part of an NNF Plant2Food research project (Grant #NNF22SA0081019).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Aarhus University: Department of Agroecology and Department of Food Science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Wageningen University and Research, Netherlands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Meyers, a Danish food enterprise</a:t>
            </a:r>
          </a:p>
          <a:p>
            <a:pPr>
              <a:spcAft>
                <a:spcPts val="1200"/>
              </a:spcAft>
              <a:defRPr sz="1900"/>
            </a:pPr>
            <a:r>
              <a:rPr dirty="0"/>
              <a:t>More information: projects.au.dk/plant2food/funded-projects/</a:t>
            </a:r>
            <a:r>
              <a:rPr dirty="0" err="1"/>
              <a:t>goodgrain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E1FB6-3B1A-9CE0-8ADB-A7A625C20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640" y="4231977"/>
            <a:ext cx="3311781" cy="1380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B5BF54-6B09-E712-9F0F-EB29AE4F0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265" y="4598047"/>
            <a:ext cx="3660699" cy="819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8C58AB-41F2-9A15-E37C-889CC0050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29" y="3487771"/>
            <a:ext cx="2868968" cy="2868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FE654F-B31E-3319-FE9B-453B9E88B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165" y="4418981"/>
            <a:ext cx="1204579" cy="120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37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21381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Why a home baking study</a:t>
            </a:r>
            <a:r>
              <a:rPr sz="4200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endParaRPr lang="en-US" sz="3200" dirty="0"/>
          </a:p>
          <a:p>
            <a:pPr>
              <a:spcAft>
                <a:spcPts val="1200"/>
              </a:spcAft>
              <a:defRPr sz="2000"/>
            </a:pP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7E91-A711-7A46-1437-F450F8BF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6D0D06-478D-5C5F-8BA4-F4FF6C2CDB92}"/>
              </a:ext>
            </a:extLst>
          </p:cNvPr>
          <p:cNvSpPr txBox="1"/>
          <p:nvPr/>
        </p:nvSpPr>
        <p:spPr>
          <a:xfrm>
            <a:off x="594360" y="320040"/>
            <a:ext cx="621381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Why a home baking study</a:t>
            </a:r>
            <a:r>
              <a:rPr sz="42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44E15-1B50-C315-91BF-2731ECC17EF0}"/>
              </a:ext>
            </a:extLst>
          </p:cNvPr>
          <p:cNvSpPr txBox="1"/>
          <p:nvPr/>
        </p:nvSpPr>
        <p:spPr>
          <a:xfrm>
            <a:off x="731520" y="1234440"/>
            <a:ext cx="107899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3200" dirty="0"/>
              <a:t>Identify the </a:t>
            </a:r>
            <a:r>
              <a:rPr lang="en-US" sz="3200" b="1" dirty="0"/>
              <a:t>best uses</a:t>
            </a:r>
            <a:r>
              <a:rPr lang="en-US" sz="3200" dirty="0"/>
              <a:t> for this perennial rye in the home kitchen</a:t>
            </a:r>
          </a:p>
          <a:p>
            <a:pPr>
              <a:spcAft>
                <a:spcPts val="1200"/>
              </a:spcAft>
              <a:defRPr sz="2000"/>
            </a:pPr>
            <a:endParaRPr lang="en-US" sz="3200" dirty="0"/>
          </a:p>
          <a:p>
            <a:pPr>
              <a:spcAft>
                <a:spcPts val="1200"/>
              </a:spcAft>
              <a:defRPr sz="2000"/>
            </a:pP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33E9F-BD49-3AB3-B95F-CF6E362889B9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  <p:extLst>
      <p:ext uri="{BB962C8B-B14F-4D97-AF65-F5344CB8AC3E}">
        <p14:creationId xmlns:p14="http://schemas.microsoft.com/office/powerpoint/2010/main" val="4056450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1BA5-B248-E49D-3258-89F1AF35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13AEF-9B48-DA5E-A2AF-BECDE7030999}"/>
              </a:ext>
            </a:extLst>
          </p:cNvPr>
          <p:cNvSpPr txBox="1"/>
          <p:nvPr/>
        </p:nvSpPr>
        <p:spPr>
          <a:xfrm>
            <a:off x="594360" y="320040"/>
            <a:ext cx="621381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Why a home baking study</a:t>
            </a:r>
            <a:r>
              <a:rPr sz="42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A95EC-F4D4-231B-7A89-F609D5D036AB}"/>
              </a:ext>
            </a:extLst>
          </p:cNvPr>
          <p:cNvSpPr txBox="1"/>
          <p:nvPr/>
        </p:nvSpPr>
        <p:spPr>
          <a:xfrm>
            <a:off x="731520" y="1234440"/>
            <a:ext cx="107899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3200" dirty="0"/>
              <a:t>Identify the </a:t>
            </a:r>
            <a:r>
              <a:rPr lang="en-US" sz="3200" b="1" dirty="0"/>
              <a:t>best uses</a:t>
            </a:r>
            <a:r>
              <a:rPr lang="en-US" sz="3200" dirty="0"/>
              <a:t> for this perennial rye in the home kitchen</a:t>
            </a:r>
          </a:p>
          <a:p>
            <a:pPr marL="342900" lvl="0" indent="-342900">
              <a:buFont typeface="+mj-lt"/>
              <a:buAutoNum type="arabicPeriod"/>
            </a:pPr>
            <a:endParaRPr lang="en-US" sz="3200" dirty="0"/>
          </a:p>
          <a:p>
            <a:pPr marL="342900" lvl="0" indent="-342900">
              <a:buFont typeface="+mj-lt"/>
              <a:buAutoNum type="arabicPeriod"/>
            </a:pPr>
            <a:r>
              <a:rPr lang="en-US" sz="3200" dirty="0"/>
              <a:t>Guide </a:t>
            </a:r>
            <a:r>
              <a:rPr lang="en-US" sz="3200" b="1" dirty="0"/>
              <a:t>future research</a:t>
            </a:r>
            <a:r>
              <a:rPr lang="en-US" sz="3200" dirty="0"/>
              <a:t> efforts</a:t>
            </a:r>
          </a:p>
          <a:p>
            <a:pPr marL="342900" lvl="0" indent="-342900">
              <a:buFont typeface="+mj-lt"/>
              <a:buAutoNum type="arabicPeriod"/>
            </a:pPr>
            <a:endParaRPr lang="en-US" sz="3200" dirty="0"/>
          </a:p>
          <a:p>
            <a:pPr>
              <a:spcAft>
                <a:spcPts val="1200"/>
              </a:spcAft>
              <a:defRPr sz="2000"/>
            </a:pPr>
            <a:endParaRPr lang="en-US" sz="3200" dirty="0"/>
          </a:p>
          <a:p>
            <a:pPr>
              <a:spcAft>
                <a:spcPts val="1200"/>
              </a:spcAft>
              <a:defRPr sz="2000"/>
            </a:pP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F602E-77D1-9D9C-B38C-ABF65ED8730C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  <p:extLst>
      <p:ext uri="{BB962C8B-B14F-4D97-AF65-F5344CB8AC3E}">
        <p14:creationId xmlns:p14="http://schemas.microsoft.com/office/powerpoint/2010/main" val="621016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8FF0-7809-ACB8-7877-EB69F014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AC58B-1374-2269-F778-5A54F990648A}"/>
              </a:ext>
            </a:extLst>
          </p:cNvPr>
          <p:cNvSpPr txBox="1"/>
          <p:nvPr/>
        </p:nvSpPr>
        <p:spPr>
          <a:xfrm>
            <a:off x="594360" y="320040"/>
            <a:ext cx="621381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Why a home baking study</a:t>
            </a:r>
            <a:r>
              <a:rPr sz="42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C5650-17D9-6616-FB57-3B5CE88115D9}"/>
              </a:ext>
            </a:extLst>
          </p:cNvPr>
          <p:cNvSpPr txBox="1"/>
          <p:nvPr/>
        </p:nvSpPr>
        <p:spPr>
          <a:xfrm>
            <a:off x="731520" y="1234440"/>
            <a:ext cx="107899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3200" dirty="0"/>
              <a:t>Identify the </a:t>
            </a:r>
            <a:r>
              <a:rPr lang="en-US" sz="3200" b="1" dirty="0"/>
              <a:t>best uses</a:t>
            </a:r>
            <a:r>
              <a:rPr lang="en-US" sz="3200" dirty="0"/>
              <a:t> for this perennial rye in the home kitchen</a:t>
            </a:r>
          </a:p>
          <a:p>
            <a:pPr marL="342900" lvl="0" indent="-342900">
              <a:buFont typeface="+mj-lt"/>
              <a:buAutoNum type="arabicPeriod"/>
            </a:pPr>
            <a:endParaRPr lang="en-US" sz="3200" dirty="0"/>
          </a:p>
          <a:p>
            <a:pPr marL="342900" lvl="0" indent="-342900">
              <a:buFont typeface="+mj-lt"/>
              <a:buAutoNum type="arabicPeriod"/>
            </a:pPr>
            <a:r>
              <a:rPr lang="en-US" sz="3200" dirty="0"/>
              <a:t>Guide </a:t>
            </a:r>
            <a:r>
              <a:rPr lang="en-US" sz="3200" b="1" dirty="0"/>
              <a:t>future research</a:t>
            </a:r>
            <a:r>
              <a:rPr lang="en-US" sz="3200" dirty="0"/>
              <a:t> efforts</a:t>
            </a:r>
          </a:p>
          <a:p>
            <a:pPr marL="342900" lvl="0" indent="-342900">
              <a:buFont typeface="+mj-lt"/>
              <a:buAutoNum type="arabicPeriod"/>
            </a:pPr>
            <a:endParaRPr lang="en-US" sz="3200" dirty="0"/>
          </a:p>
          <a:p>
            <a:pPr marL="342900" lvl="0" indent="-342900">
              <a:buFont typeface="+mj-lt"/>
              <a:buAutoNum type="arabicPeriod"/>
            </a:pPr>
            <a:r>
              <a:rPr lang="en-US" sz="3200" dirty="0"/>
              <a:t>Understand how people </a:t>
            </a:r>
            <a:r>
              <a:rPr lang="en-US" sz="3200" b="1" dirty="0"/>
              <a:t>feel</a:t>
            </a:r>
            <a:r>
              <a:rPr lang="en-US" sz="3200" dirty="0"/>
              <a:t> about baking with perennial rye</a:t>
            </a:r>
          </a:p>
          <a:p>
            <a:pPr>
              <a:spcAft>
                <a:spcPts val="1200"/>
              </a:spcAft>
              <a:defRPr sz="2000"/>
            </a:pPr>
            <a:endParaRPr lang="en-US" sz="3200" dirty="0"/>
          </a:p>
          <a:p>
            <a:pPr>
              <a:spcAft>
                <a:spcPts val="1200"/>
              </a:spcAft>
              <a:defRPr sz="2000"/>
            </a:pP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98AFE-8C6A-3CA9-26A6-FD94A75D7407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  <p:extLst>
      <p:ext uri="{BB962C8B-B14F-4D97-AF65-F5344CB8AC3E}">
        <p14:creationId xmlns:p14="http://schemas.microsoft.com/office/powerpoint/2010/main" val="3807069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BB6B-5CF1-1D9C-27C0-2F7693ED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88891-DBD5-85FC-07AC-C3C5C7014CF2}"/>
              </a:ext>
            </a:extLst>
          </p:cNvPr>
          <p:cNvSpPr txBox="1"/>
          <p:nvPr/>
        </p:nvSpPr>
        <p:spPr>
          <a:xfrm>
            <a:off x="594361" y="320040"/>
            <a:ext cx="107703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/>
            </a:pPr>
            <a:r>
              <a:rPr sz="4200" dirty="0"/>
              <a:t>What </a:t>
            </a:r>
            <a:r>
              <a:rPr lang="en-US" sz="4200" dirty="0"/>
              <a:t>is expected of me as a participant in the home baking study</a:t>
            </a:r>
            <a:r>
              <a:rPr sz="42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9C9D2-B087-5471-0923-BF0BAEE58280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5" name="Picture 4" descr="figure-1.png">
            <a:extLst>
              <a:ext uri="{FF2B5EF4-FFF2-40B4-BE49-F238E27FC236}">
                <a16:creationId xmlns:a16="http://schemas.microsoft.com/office/drawing/2014/main" id="{1E66C222-1039-00E2-37EA-44A6C8938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14507" y="1706652"/>
            <a:ext cx="2962986" cy="295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8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FDAE-6BCE-BF39-608D-89C10D89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A6B29-DC84-6BED-4464-856596C08F34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8ED882-9719-5BA7-2D7C-13801DA96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103" y="462116"/>
            <a:ext cx="8635794" cy="575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5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A68E-21F5-50A8-EAF5-3553EEBF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27641-8B08-C999-6DB8-0A4278A7AEB4}"/>
              </a:ext>
            </a:extLst>
          </p:cNvPr>
          <p:cNvSpPr txBox="1"/>
          <p:nvPr/>
        </p:nvSpPr>
        <p:spPr>
          <a:xfrm>
            <a:off x="594360" y="320040"/>
            <a:ext cx="304352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Some details</a:t>
            </a:r>
            <a:endParaRPr sz="4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ABABB-72F9-4F40-707B-2816FFBAE4C2}"/>
              </a:ext>
            </a:extLst>
          </p:cNvPr>
          <p:cNvSpPr txBox="1"/>
          <p:nvPr/>
        </p:nvSpPr>
        <p:spPr>
          <a:xfrm>
            <a:off x="731520" y="1234440"/>
            <a:ext cx="10835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1200"/>
              </a:spcAft>
              <a:buFont typeface="+mj-lt"/>
              <a:buAutoNum type="arabicPeriod"/>
              <a:defRPr sz="2000"/>
            </a:pPr>
            <a:r>
              <a:rPr lang="en-US" sz="3200" dirty="0"/>
              <a:t>R</a:t>
            </a:r>
            <a:r>
              <a:rPr sz="3200" dirty="0"/>
              <a:t>eceive </a:t>
            </a:r>
            <a:r>
              <a:rPr lang="en-US" sz="3200" b="1" dirty="0"/>
              <a:t>400 or 800</a:t>
            </a:r>
            <a:r>
              <a:rPr sz="3200" b="1" dirty="0"/>
              <a:t> g</a:t>
            </a:r>
            <a:r>
              <a:rPr lang="en-US" sz="3200" b="1" dirty="0"/>
              <a:t>rams</a:t>
            </a:r>
            <a:r>
              <a:rPr sz="3200" b="1" dirty="0"/>
              <a:t> of </a:t>
            </a:r>
            <a:r>
              <a:rPr lang="en-US" sz="3200" b="1" dirty="0"/>
              <a:t>perennial </a:t>
            </a:r>
            <a:r>
              <a:rPr sz="3200" b="1" dirty="0"/>
              <a:t>rye flour</a:t>
            </a:r>
            <a:r>
              <a:rPr sz="3200" dirty="0"/>
              <a:t> </a:t>
            </a:r>
            <a:r>
              <a:rPr lang="en-US" sz="3200" dirty="0"/>
              <a:t>(depending on your baking needs)</a:t>
            </a:r>
            <a:r>
              <a:rPr sz="3200" dirty="0"/>
              <a:t>.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  <a:defRPr sz="2000"/>
            </a:pPr>
            <a:r>
              <a:rPr sz="3200" dirty="0"/>
              <a:t>You will</a:t>
            </a:r>
            <a:r>
              <a:rPr lang="en-US" sz="3200" dirty="0"/>
              <a:t> need to</a:t>
            </a:r>
            <a:r>
              <a:rPr sz="3200" dirty="0"/>
              <a:t> </a:t>
            </a:r>
            <a:r>
              <a:rPr sz="3200" b="1" dirty="0"/>
              <a:t>purchase any additional ingredients</a:t>
            </a:r>
            <a:r>
              <a:rPr sz="3200" dirty="0"/>
              <a:t> needed for your baking.</a:t>
            </a:r>
            <a:endParaRPr lang="en-US" sz="3200" dirty="0"/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  <a:defRPr sz="2000"/>
            </a:pPr>
            <a:r>
              <a:rPr lang="da-DK" sz="3200" dirty="0"/>
              <a:t>…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28931-4B01-F48A-88D2-1BC40C2A2659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  <p:extLst>
      <p:ext uri="{BB962C8B-B14F-4D97-AF65-F5344CB8AC3E}">
        <p14:creationId xmlns:p14="http://schemas.microsoft.com/office/powerpoint/2010/main" val="3940522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16BE-E2DC-E2FF-D486-54ADE933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285C6-3BDD-86E1-28CD-5B6EC81B888D}"/>
              </a:ext>
            </a:extLst>
          </p:cNvPr>
          <p:cNvSpPr txBox="1"/>
          <p:nvPr/>
        </p:nvSpPr>
        <p:spPr>
          <a:xfrm>
            <a:off x="594360" y="320040"/>
            <a:ext cx="5754589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Some details (continued)</a:t>
            </a:r>
            <a:endParaRPr sz="4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571D3-208F-82BD-C9C2-A03F9F08ADB2}"/>
              </a:ext>
            </a:extLst>
          </p:cNvPr>
          <p:cNvSpPr txBox="1"/>
          <p:nvPr/>
        </p:nvSpPr>
        <p:spPr>
          <a:xfrm>
            <a:off x="731520" y="1234440"/>
            <a:ext cx="1083564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1200"/>
              </a:spcAft>
              <a:buAutoNum type="arabicPeriod" startAt="3"/>
              <a:defRPr sz="2000"/>
            </a:pPr>
            <a:r>
              <a:rPr lang="da-DK" sz="3200" b="1" dirty="0" err="1"/>
              <a:t>Bake</a:t>
            </a:r>
            <a:r>
              <a:rPr lang="da-DK" sz="3200" b="1" dirty="0"/>
              <a:t> </a:t>
            </a:r>
            <a:r>
              <a:rPr lang="da-DK" sz="3200" b="1" dirty="0" err="1"/>
              <a:t>two</a:t>
            </a:r>
            <a:r>
              <a:rPr lang="da-DK" sz="3200" b="1" dirty="0"/>
              <a:t> versions</a:t>
            </a:r>
            <a:r>
              <a:rPr lang="da-DK" sz="3200" dirty="0"/>
              <a:t>, </a:t>
            </a:r>
            <a:r>
              <a:rPr lang="da-DK" sz="3200" dirty="0" err="1"/>
              <a:t>one</a:t>
            </a:r>
            <a:r>
              <a:rPr lang="da-DK" sz="3200" dirty="0"/>
              <a:t> </a:t>
            </a:r>
            <a:r>
              <a:rPr lang="da-DK" sz="3200" dirty="0" err="1"/>
              <a:t>using</a:t>
            </a:r>
            <a:r>
              <a:rPr lang="da-DK" sz="3200" dirty="0"/>
              <a:t> the </a:t>
            </a:r>
            <a:r>
              <a:rPr lang="da-DK" sz="3200" dirty="0" err="1"/>
              <a:t>perennial</a:t>
            </a:r>
            <a:r>
              <a:rPr lang="da-DK" sz="3200" dirty="0"/>
              <a:t> </a:t>
            </a:r>
            <a:r>
              <a:rPr lang="da-DK" sz="3200" dirty="0" err="1"/>
              <a:t>rye</a:t>
            </a:r>
            <a:r>
              <a:rPr lang="da-DK" sz="3200" dirty="0"/>
              <a:t> </a:t>
            </a:r>
            <a:r>
              <a:rPr lang="da-DK" sz="3200" dirty="0" err="1"/>
              <a:t>flour</a:t>
            </a:r>
            <a:r>
              <a:rPr lang="da-DK" sz="3200" dirty="0"/>
              <a:t>, </a:t>
            </a:r>
            <a:r>
              <a:rPr lang="da-DK" sz="3200" dirty="0" err="1"/>
              <a:t>one</a:t>
            </a:r>
            <a:r>
              <a:rPr lang="da-DK" sz="3200" dirty="0"/>
              <a:t> </a:t>
            </a:r>
            <a:r>
              <a:rPr lang="da-DK" sz="3200" dirty="0" err="1"/>
              <a:t>using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normal </a:t>
            </a:r>
            <a:r>
              <a:rPr lang="da-DK" sz="3200" dirty="0" err="1"/>
              <a:t>flour</a:t>
            </a:r>
            <a:r>
              <a:rPr lang="da-DK" sz="3200" dirty="0"/>
              <a:t>.</a:t>
            </a:r>
          </a:p>
          <a:p>
            <a:pPr marL="514350" indent="-514350">
              <a:spcAft>
                <a:spcPts val="1200"/>
              </a:spcAft>
              <a:buAutoNum type="arabicPeriod" startAt="3"/>
              <a:defRPr sz="2000"/>
            </a:pPr>
            <a:r>
              <a:rPr lang="en-US" sz="3200" b="1" dirty="0"/>
              <a:t>T</a:t>
            </a:r>
            <a:r>
              <a:rPr sz="3200" b="1" dirty="0"/>
              <a:t>ake notes</a:t>
            </a:r>
            <a:r>
              <a:rPr sz="3200" dirty="0"/>
              <a:t> during baking</a:t>
            </a:r>
            <a:r>
              <a:rPr lang="en-US" sz="3200" dirty="0"/>
              <a:t>. </a:t>
            </a:r>
          </a:p>
          <a:p>
            <a:pPr marL="514350" indent="-514350">
              <a:spcAft>
                <a:spcPts val="1200"/>
              </a:spcAft>
              <a:buAutoNum type="arabicPeriod" startAt="3"/>
              <a:defRPr sz="2000"/>
            </a:pPr>
            <a:r>
              <a:rPr lang="en-US" sz="3200" b="1" dirty="0"/>
              <a:t>C</a:t>
            </a:r>
            <a:r>
              <a:rPr sz="3200" b="1" dirty="0"/>
              <a:t>omplete a </a:t>
            </a:r>
            <a:r>
              <a:rPr lang="en-US" sz="3200" b="1" dirty="0"/>
              <a:t>post-baking</a:t>
            </a:r>
            <a:r>
              <a:rPr sz="3200" b="1" dirty="0"/>
              <a:t> survey</a:t>
            </a:r>
            <a:r>
              <a:rPr lang="en-US" sz="3200" b="1" dirty="0"/>
              <a:t> </a:t>
            </a:r>
          </a:p>
          <a:p>
            <a:pPr lvl="1">
              <a:spcAft>
                <a:spcPts val="1200"/>
              </a:spcAft>
              <a:defRPr sz="2000"/>
            </a:pPr>
            <a:r>
              <a:rPr lang="en-US" sz="3200" dirty="0"/>
              <a:t>(we estimate it will take </a:t>
            </a:r>
            <a:r>
              <a:rPr lang="en-US" sz="3200" b="1" dirty="0">
                <a:solidFill>
                  <a:srgbClr val="FF0000"/>
                </a:solidFill>
              </a:rPr>
              <a:t>15-30 minutes</a:t>
            </a:r>
            <a:r>
              <a:rPr lang="en-US" sz="3200" dirty="0"/>
              <a:t>)</a:t>
            </a:r>
            <a:r>
              <a:rPr sz="3200" dirty="0"/>
              <a:t>.</a:t>
            </a:r>
            <a:endParaRPr lang="en-US" sz="3200" dirty="0"/>
          </a:p>
          <a:p>
            <a:pPr marL="514350" indent="-514350">
              <a:spcAft>
                <a:spcPts val="1200"/>
              </a:spcAft>
              <a:buAutoNum type="arabicPeriod" startAt="3"/>
              <a:defRPr sz="2000"/>
            </a:pPr>
            <a:r>
              <a:rPr lang="en-US" sz="3200" dirty="0"/>
              <a:t>R</a:t>
            </a:r>
            <a:r>
              <a:rPr sz="3200" dirty="0"/>
              <a:t>eceive a small </a:t>
            </a:r>
            <a:r>
              <a:rPr sz="3200" b="1" dirty="0"/>
              <a:t>thank-you gift</a:t>
            </a:r>
            <a:r>
              <a:rPr sz="32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11AF63-5B3E-D1B0-EB39-681DC7BE6EBA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  <p:extLst>
      <p:ext uri="{BB962C8B-B14F-4D97-AF65-F5344CB8AC3E}">
        <p14:creationId xmlns:p14="http://schemas.microsoft.com/office/powerpoint/2010/main" val="3882965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5A0E-532B-187A-82E8-E144501C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351185-1806-3660-B8F0-4FCD1D546330}"/>
              </a:ext>
            </a:extLst>
          </p:cNvPr>
          <p:cNvSpPr txBox="1"/>
          <p:nvPr/>
        </p:nvSpPr>
        <p:spPr>
          <a:xfrm>
            <a:off x="594360" y="320040"/>
            <a:ext cx="372698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4200" dirty="0"/>
              <a:t>Optional events</a:t>
            </a:r>
            <a:endParaRPr sz="4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AA353-A4ED-5BF4-C061-B20B0CC9AB5F}"/>
              </a:ext>
            </a:extLst>
          </p:cNvPr>
          <p:cNvSpPr txBox="1"/>
          <p:nvPr/>
        </p:nvSpPr>
        <p:spPr>
          <a:xfrm>
            <a:off x="731520" y="1234440"/>
            <a:ext cx="107899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US" sz="3200" b="1" dirty="0"/>
              <a:t>Summer 2027</a:t>
            </a:r>
          </a:p>
          <a:p>
            <a:pPr>
              <a:spcAft>
                <a:spcPts val="1200"/>
              </a:spcAft>
              <a:defRPr sz="2100"/>
            </a:pPr>
            <a:r>
              <a:rPr lang="en-US" sz="3200" dirty="0"/>
              <a:t>Public event where you can see perennial rye growing in the field</a:t>
            </a:r>
          </a:p>
          <a:p>
            <a:pPr>
              <a:spcAft>
                <a:spcPts val="1200"/>
              </a:spcAft>
              <a:defRPr sz="2100"/>
            </a:pPr>
            <a:r>
              <a:rPr lang="en-US" sz="3200" b="1" dirty="0"/>
              <a:t>Fall 2027</a:t>
            </a:r>
          </a:p>
          <a:p>
            <a:pPr>
              <a:spcAft>
                <a:spcPts val="1200"/>
              </a:spcAft>
              <a:defRPr sz="2100"/>
            </a:pPr>
            <a:r>
              <a:rPr lang="en-US" sz="3200" dirty="0"/>
              <a:t>A public symposium to share information about perennial rye</a:t>
            </a:r>
          </a:p>
          <a:p>
            <a:pPr>
              <a:spcAft>
                <a:spcPts val="1200"/>
              </a:spcAft>
              <a:defRPr sz="2100"/>
            </a:pPr>
            <a:r>
              <a:rPr lang="en-US" sz="3200" b="1" dirty="0">
                <a:solidFill>
                  <a:srgbClr val="FF0000"/>
                </a:solidFill>
              </a:rPr>
              <a:t>Both are free and open to the public!</a:t>
            </a:r>
          </a:p>
          <a:p>
            <a:pPr>
              <a:spcAft>
                <a:spcPts val="1200"/>
              </a:spcAft>
              <a:defRPr sz="2100"/>
            </a:pPr>
            <a:r>
              <a:rPr sz="3200" dirty="0"/>
              <a:t>Attendance is </a:t>
            </a:r>
            <a:r>
              <a:rPr sz="3200" b="1" i="1" dirty="0"/>
              <a:t>optional</a:t>
            </a:r>
            <a:r>
              <a:rPr sz="3200" dirty="0"/>
              <a:t> and is not required for participation in the Home Baking Evaluation.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E7918-B1E7-58A8-C3B5-AE044EC2C291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  <p:extLst>
      <p:ext uri="{BB962C8B-B14F-4D97-AF65-F5344CB8AC3E}">
        <p14:creationId xmlns:p14="http://schemas.microsoft.com/office/powerpoint/2010/main" val="183905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11AE5-782D-A54D-C912-FFBDD466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3711DF-6A12-1A07-903B-A150E86111D8}"/>
              </a:ext>
            </a:extLst>
          </p:cNvPr>
          <p:cNvSpPr txBox="1"/>
          <p:nvPr/>
        </p:nvSpPr>
        <p:spPr>
          <a:xfrm>
            <a:off x="594361" y="320040"/>
            <a:ext cx="107703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/>
            </a:pPr>
            <a:r>
              <a:rPr lang="en-US" sz="4200" dirty="0"/>
              <a:t>Common questions</a:t>
            </a:r>
            <a:endParaRPr sz="4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2D24C-27AD-7470-F5A6-57C84DDAD7E0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5" name="Picture 4" descr="figure-1.png">
            <a:extLst>
              <a:ext uri="{FF2B5EF4-FFF2-40B4-BE49-F238E27FC236}">
                <a16:creationId xmlns:a16="http://schemas.microsoft.com/office/drawing/2014/main" id="{CC8B2D4A-7215-5C19-9671-29AB4C81B4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14507" y="1706652"/>
            <a:ext cx="2962986" cy="295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81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47674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4200" dirty="0"/>
              <a:t>Is </a:t>
            </a:r>
            <a:r>
              <a:rPr lang="en-US" sz="4200" dirty="0"/>
              <a:t>this perennial rye flour</a:t>
            </a:r>
            <a:r>
              <a:rPr sz="4200" dirty="0"/>
              <a:t> safe to eat?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sz="3200" dirty="0"/>
              <a:t>Yes.</a:t>
            </a:r>
          </a:p>
          <a:p>
            <a:pPr>
              <a:spcAft>
                <a:spcPts val="1200"/>
              </a:spcAft>
              <a:defRPr sz="2100"/>
            </a:pPr>
            <a:r>
              <a:rPr sz="3200" dirty="0"/>
              <a:t>The flour was tested at an independent laboratory to ensure it is safe for human consumption.</a:t>
            </a:r>
          </a:p>
          <a:p>
            <a:pPr>
              <a:spcAft>
                <a:spcPts val="1200"/>
              </a:spcAft>
              <a:defRPr sz="2100"/>
            </a:pPr>
            <a:r>
              <a:rPr sz="3200" dirty="0"/>
              <a:t>The laboratory results are available </a:t>
            </a:r>
            <a:r>
              <a:rPr lang="en-US" sz="3200" dirty="0"/>
              <a:t>(</a:t>
            </a:r>
            <a:r>
              <a:rPr sz="3200" dirty="0"/>
              <a:t>in </a:t>
            </a:r>
            <a:r>
              <a:rPr lang="en-US" sz="3200" dirty="0"/>
              <a:t>Danish) </a:t>
            </a:r>
            <a:r>
              <a:rPr sz="3200" dirty="0"/>
              <a:t>the </a:t>
            </a:r>
            <a:r>
              <a:rPr sz="3200" b="1" dirty="0"/>
              <a:t>GoodGrain Lab Results PDF</a:t>
            </a:r>
            <a:r>
              <a:rPr lang="en-US" sz="3200" dirty="0"/>
              <a:t>, which you can access through the intake survey and/or the Informational Sheet website. </a:t>
            </a: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40212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4200" dirty="0"/>
              <a:t>Is the perennial rye genetically modified?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sz="3200" dirty="0"/>
              <a:t>No.</a:t>
            </a:r>
          </a:p>
          <a:p>
            <a:pPr>
              <a:spcAft>
                <a:spcPts val="1200"/>
              </a:spcAft>
              <a:defRPr sz="2000"/>
            </a:pPr>
            <a:r>
              <a:rPr sz="3200" dirty="0"/>
              <a:t>This variety was developed using </a:t>
            </a:r>
            <a:r>
              <a:rPr sz="3200" b="1" dirty="0"/>
              <a:t>traditional breeding methods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/>
            </a:pPr>
            <a:r>
              <a:rPr sz="3200" dirty="0"/>
              <a:t>Plants were </a:t>
            </a:r>
            <a:r>
              <a:rPr sz="3200" b="1" dirty="0"/>
              <a:t>crossed by hand</a:t>
            </a:r>
            <a:r>
              <a:rPr sz="3200" dirty="0"/>
              <a:t>, followed by selection based on their physical characteristics.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3200" dirty="0"/>
              <a:t>You can see a scientific publication </a:t>
            </a:r>
            <a:r>
              <a:rPr sz="3200" dirty="0"/>
              <a:t>from 1986 for more information</a:t>
            </a:r>
            <a:r>
              <a:rPr lang="en-US" sz="3200" dirty="0"/>
              <a:t>:</a:t>
            </a: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5DAE88-9238-64B0-F3AA-4D7C1A5A1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663" y="4344867"/>
            <a:ext cx="5725107" cy="1981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73706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4200" dirty="0"/>
              <a:t>Is this grain organic?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sz="3200" dirty="0"/>
              <a:t>No.</a:t>
            </a:r>
          </a:p>
          <a:p>
            <a:pPr>
              <a:spcAft>
                <a:spcPts val="1200"/>
              </a:spcAft>
              <a:defRPr sz="2100"/>
            </a:pPr>
            <a:r>
              <a:rPr sz="3200" dirty="0"/>
              <a:t>Aarhus University does not have organically certified land because of the costs and additional administrative complexity.</a:t>
            </a:r>
          </a:p>
          <a:p>
            <a:pPr>
              <a:spcAft>
                <a:spcPts val="1200"/>
              </a:spcAft>
              <a:defRPr sz="2100"/>
            </a:pPr>
            <a:r>
              <a:rPr sz="3200" dirty="0"/>
              <a:t>However, this grain was grown </a:t>
            </a:r>
            <a:r>
              <a:rPr sz="3200" b="1" dirty="0"/>
              <a:t>without the use of pesticides</a:t>
            </a:r>
            <a:r>
              <a:rPr sz="32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76973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4200" dirty="0"/>
              <a:t>Can I buy </a:t>
            </a:r>
            <a:r>
              <a:rPr lang="en-US" sz="4200" dirty="0"/>
              <a:t>perennial rye</a:t>
            </a:r>
            <a:r>
              <a:rPr sz="4200" dirty="0"/>
              <a:t> flour?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US" sz="3200" dirty="0"/>
              <a:t>No. </a:t>
            </a:r>
          </a:p>
          <a:p>
            <a:pPr>
              <a:spcAft>
                <a:spcPts val="1200"/>
              </a:spcAft>
              <a:defRPr sz="2100"/>
            </a:pPr>
            <a:r>
              <a:rPr sz="3200" dirty="0"/>
              <a:t>Flour from this perennial rye variety is </a:t>
            </a:r>
            <a:r>
              <a:rPr sz="3200" b="1" dirty="0"/>
              <a:t>not currently available commercially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100"/>
            </a:pPr>
            <a:r>
              <a:rPr sz="3200" dirty="0"/>
              <a:t>The project is laying the groundwork for a potential commercial release</a:t>
            </a:r>
            <a:r>
              <a:rPr lang="en-US" sz="3200" dirty="0"/>
              <a:t>. </a:t>
            </a:r>
            <a:endParaRPr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8FB18-F98F-D430-B7ED-A2242212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05450-5500-DB87-0A22-74DA6DF5CD4A}"/>
              </a:ext>
            </a:extLst>
          </p:cNvPr>
          <p:cNvSpPr txBox="1"/>
          <p:nvPr/>
        </p:nvSpPr>
        <p:spPr>
          <a:xfrm>
            <a:off x="594361" y="320040"/>
            <a:ext cx="107703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/>
            </a:pPr>
            <a:r>
              <a:rPr lang="en-US" sz="4200" dirty="0"/>
              <a:t>Now you can decide</a:t>
            </a:r>
            <a:endParaRPr sz="4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04EC0-9537-4A8B-4A6F-3BA7BBCAE376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5" name="Picture 4" descr="figure-1.png">
            <a:extLst>
              <a:ext uri="{FF2B5EF4-FFF2-40B4-BE49-F238E27FC236}">
                <a16:creationId xmlns:a16="http://schemas.microsoft.com/office/drawing/2014/main" id="{064D5659-B54B-38C9-9D44-534269E46B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90" t="53023" r="5903" b="22742"/>
          <a:stretch>
            <a:fillRect/>
          </a:stretch>
        </p:blipFill>
        <p:spPr>
          <a:xfrm>
            <a:off x="4614507" y="1706652"/>
            <a:ext cx="2962986" cy="295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85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55048-EE4E-CE47-C6FB-36903CC07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5C0D15-96B2-96FC-117B-8059D410F680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GoodGrain Home Baking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53283-D9FD-4551-92AD-59AA734D0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594" y="0"/>
            <a:ext cx="8586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0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683</Words>
  <Application>Microsoft Office PowerPoint</Application>
  <PresentationFormat>Widescreen</PresentationFormat>
  <Paragraphs>120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Virginia Anne Nichols</dc:creator>
  <cp:keywords/>
  <dc:description>generated using python-pptx</dc:description>
  <cp:lastModifiedBy>Virginia Anne Nichols</cp:lastModifiedBy>
  <cp:revision>15</cp:revision>
  <dcterms:created xsi:type="dcterms:W3CDTF">2013-01-27T09:14:16Z</dcterms:created>
  <dcterms:modified xsi:type="dcterms:W3CDTF">2026-10-24T10:36:58Z</dcterms:modified>
  <cp:category/>
</cp:coreProperties>
</file>